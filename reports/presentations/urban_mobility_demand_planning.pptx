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efd76d363455c" /><Relationship Type="http://schemas.openxmlformats.org/officeDocument/2006/relationships/extended-properties" Target="/docProps/app.xml" Id="R4168578e34334175" /><Relationship Type="http://schemas.openxmlformats.org/officeDocument/2006/relationships/officeDocument" Target="/ppt/presentation.xml" Id="R51898b14791445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8bece8bfd47ce"/>
  </p:sldMasterIdLst>
  <p:notesMasterIdLst>
    <p:notesMasterId xmlns:r="http://schemas.openxmlformats.org/officeDocument/2006/relationships" r:id="R9ee63599bba44c52"/>
  </p:notesMasterIdLst>
  <p:sldIdLst>
    <p:sldId xmlns:r="http://schemas.openxmlformats.org/officeDocument/2006/relationships" id="256" r:id="R4bbd470528f3411f"/>
    <p:sldId xmlns:r="http://schemas.openxmlformats.org/officeDocument/2006/relationships" id="257" r:id="R636f63b447454082"/>
    <p:sldId xmlns:r="http://schemas.openxmlformats.org/officeDocument/2006/relationships" id="258" r:id="R84ca8fe0b32341ce"/>
    <p:sldId xmlns:r="http://schemas.openxmlformats.org/officeDocument/2006/relationships" id="259" r:id="R198b9c645ce74fbc"/>
    <p:sldId xmlns:r="http://schemas.openxmlformats.org/officeDocument/2006/relationships" id="260" r:id="R86cd0f7551bc41fa"/>
    <p:sldId xmlns:r="http://schemas.openxmlformats.org/officeDocument/2006/relationships" id="261" r:id="Rd817f82c152d4e00"/>
    <p:sldId xmlns:r="http://schemas.openxmlformats.org/officeDocument/2006/relationships" id="262" r:id="R8a34441954984cc1"/>
    <p:sldId xmlns:r="http://schemas.openxmlformats.org/officeDocument/2006/relationships" id="263" r:id="Rabac86f342d0436e"/>
    <p:sldId xmlns:r="http://schemas.openxmlformats.org/officeDocument/2006/relationships" id="264" r:id="R6e2df5d10d9e4d67"/>
    <p:sldId xmlns:r="http://schemas.openxmlformats.org/officeDocument/2006/relationships" id="265" r:id="Ra1f0381f39f74e16"/>
    <p:sldId xmlns:r="http://schemas.openxmlformats.org/officeDocument/2006/relationships" id="266" r:id="Rc822e587e34f41bd"/>
    <p:sldId xmlns:r="http://schemas.openxmlformats.org/officeDocument/2006/relationships" id="267" r:id="R217b3c7b24af43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6de34181ce4ffe" /><Relationship Type="http://schemas.openxmlformats.org/officeDocument/2006/relationships/slideMaster" Target="/ppt/slideMasters/slideMaster1.xml" Id="R57e8bece8bfd47ce" /><Relationship Type="http://schemas.openxmlformats.org/officeDocument/2006/relationships/notesMaster" Target="/ppt/notesMasters/notesMaster1.xml" Id="R9ee63599bba44c52" /><Relationship Type="http://schemas.openxmlformats.org/officeDocument/2006/relationships/presProps" Target="/ppt/presProps.xml" Id="R117ad4b9766e4bfd" /><Relationship Type="http://schemas.openxmlformats.org/officeDocument/2006/relationships/tableStyles" Target="/ppt/tableStyles.xml" Id="R9e3c104d6a074861" /><Relationship Type="http://schemas.openxmlformats.org/officeDocument/2006/relationships/slide" Target="/ppt/slides/slide1.xml" Id="R4bbd470528f3411f" /><Relationship Type="http://schemas.openxmlformats.org/officeDocument/2006/relationships/slide" Target="/ppt/slides/slide2.xml" Id="R636f63b447454082" /><Relationship Type="http://schemas.openxmlformats.org/officeDocument/2006/relationships/slide" Target="/ppt/slides/slide3.xml" Id="R84ca8fe0b32341ce" /><Relationship Type="http://schemas.openxmlformats.org/officeDocument/2006/relationships/slide" Target="/ppt/slides/slide4.xml" Id="R198b9c645ce74fbc" /><Relationship Type="http://schemas.openxmlformats.org/officeDocument/2006/relationships/slide" Target="/ppt/slides/slide5.xml" Id="R86cd0f7551bc41fa" /><Relationship Type="http://schemas.openxmlformats.org/officeDocument/2006/relationships/slide" Target="/ppt/slides/slide6.xml" Id="Rd817f82c152d4e00" /><Relationship Type="http://schemas.openxmlformats.org/officeDocument/2006/relationships/slide" Target="/ppt/slides/slide7.xml" Id="R8a34441954984cc1" /><Relationship Type="http://schemas.openxmlformats.org/officeDocument/2006/relationships/slide" Target="/ppt/slides/slide8.xml" Id="Rabac86f342d0436e" /><Relationship Type="http://schemas.openxmlformats.org/officeDocument/2006/relationships/slide" Target="/ppt/slides/slide9.xml" Id="R6e2df5d10d9e4d67" /><Relationship Type="http://schemas.openxmlformats.org/officeDocument/2006/relationships/slide" Target="/ppt/slides/slide10.xml" Id="Ra1f0381f39f74e16" /><Relationship Type="http://schemas.openxmlformats.org/officeDocument/2006/relationships/slide" Target="/ppt/slides/slide11.xml" Id="Rc822e587e34f41bd" /><Relationship Type="http://schemas.openxmlformats.org/officeDocument/2006/relationships/slide" Target="/ppt/slides/slide12.xml" Id="R217b3c7b24af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cd170c53a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4874799a04090" /><Relationship Type="http://schemas.openxmlformats.org/officeDocument/2006/relationships/notesMaster" Target="/ppt/notesMasters/notesMaster1.xml" Id="R52b9237177e1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85eb60291c463a" /><Relationship Type="http://schemas.openxmlformats.org/officeDocument/2006/relationships/notesMaster" Target="/ppt/notesMasters/notesMaster1.xml" Id="R0705d5d4422f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ce0142b3df4c7d" /><Relationship Type="http://schemas.openxmlformats.org/officeDocument/2006/relationships/notesMaster" Target="/ppt/notesMasters/notesMaster1.xml" Id="R8fc85ef19f2d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1601b8e17454d" /><Relationship Type="http://schemas.openxmlformats.org/officeDocument/2006/relationships/notesMaster" Target="/ppt/notesMasters/notesMaster1.xml" Id="R802d0fec434a4a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84a346619c499c" /><Relationship Type="http://schemas.openxmlformats.org/officeDocument/2006/relationships/notesMaster" Target="/ppt/notesMasters/notesMaster1.xml" Id="Re89fa9065a80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c651fe3f148f8" /><Relationship Type="http://schemas.openxmlformats.org/officeDocument/2006/relationships/notesMaster" Target="/ppt/notesMasters/notesMaster1.xml" Id="R3dba20be0d55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59db603131478e" /><Relationship Type="http://schemas.openxmlformats.org/officeDocument/2006/relationships/notesMaster" Target="/ppt/notesMasters/notesMaster1.xml" Id="R2968e85718a04c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3b91f830d94700" /><Relationship Type="http://schemas.openxmlformats.org/officeDocument/2006/relationships/notesMaster" Target="/ppt/notesMasters/notesMaster1.xml" Id="R6ddbe06a334448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ee956c32cb48f0" /><Relationship Type="http://schemas.openxmlformats.org/officeDocument/2006/relationships/notesMaster" Target="/ppt/notesMasters/notesMaster1.xml" Id="Rdfbbef1cecf741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f59c3c9bf84ca7" /><Relationship Type="http://schemas.openxmlformats.org/officeDocument/2006/relationships/notesMaster" Target="/ppt/notesMasters/notesMaster1.xml" Id="R507b399b87fd48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caae4a5594724" /><Relationship Type="http://schemas.openxmlformats.org/officeDocument/2006/relationships/notesMaster" Target="/ppt/notesMasters/notesMaster1.xml" Id="R6f3d0e543fea41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5adc553194503" /><Relationship Type="http://schemas.openxmlformats.org/officeDocument/2006/relationships/notesMaster" Target="/ppt/notesMasters/notesMaster1.xml" Id="Rf05105cc7277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communicate the work from the viewpoint of a Specialist – GIP Demand Planning: establish monitoring, evaluate commercial signals, plan near-term demand, and design a decision-ready experiment. Public NYC ride-hailing data are used as a transferable portfolio case, not as evidence of employment or an implemented Grab project. Cover image generated with the built-in ImageGen tool on 14 October 2026. Prompt: editorial Manhattan avenue after rain, dark navy negative space at left, ordinary unbranded vehicles and city buildings at right, teal/amber palette, no text or logos. The illustration is contextual and carries no factual claim about the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</a:t>
            </a:r>
          </a:p>
          <a:p xmlns:a="http://schemas.openxmlformats.org/drawingml/2006/main">
            <a:r>
              <a:t>- NYC TLC: https://www.nyc.gov/site/tlc/about/tlc-trip-record-data.page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zone gap is a normalized difference in year-over-year growth, not a percentage point growth difference and not a causal fee estimate. The share result compares credit-period versus post-period zone share against outside-zone share. Incremental trips and economics require assumptions. The 3.48% WAPE is known only in retrospective evaluation; the forecast was frozen and the two-week mean was selected before joining target-week actuals. The recommended actions are portfolio proposals, not executed operational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https://github.com/handonn2000/urban-mobility-planning/blob/c14ffe9ab54189af7045a6de9a07c372c91e0ca9/data/processed/fee_effect.csv</a:t>
            </a:r>
          </a:p>
          <a:p xmlns:a="http://schemas.openxmlformats.org/drawingml/2006/main">
            <a:r>
              <a:t>- https://github.com/handonn2000/urban-mobility-planning/blob/c14ffe9ab54189af7045a6de9a07c372c91e0ca9/docs/lyft_credit_analysis.json</a:t>
            </a:r>
          </a:p>
          <a:p xmlns:a="http://schemas.openxmlformats.org/drawingml/2006/main">
            <a:r>
              <a:t>- https://github.com/handonn2000/urban-mobility-planning/blob/c14ffe9ab54189af7045a6de9a07c372c91e0ca9/docs/holiday_week_forecast_summary.json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raw sample contains 59,409,057 rows; 2,038 outside-scope rows and six rows with unknown endpoints are excluded, leaving 59,407,013 retained trips. Zone definition is a data-derived endpoint proxy: zones with at least 95% fee incidence in 5–31 January 2025 (38 zones). Short trips are under 2 miles; low fare is at or below the $11.63 pre-period threshold. A separate June–August 2024 sample was selected from weather before trip outcomes. The 62 code cells ran from scratch in a fresh Jupyter environment with only the notebook and verified source cache; code does not require repository scripts. NYC TLC records are retrospective monthly submissions, not live bookings. Metric quality filters use appropriate denominators and do not globally delete completed-trip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https://github.com/handonn2000/urban-mobility-planning/blob/c14ffe9ab54189af7045a6de9a07c372c91e0ca9/data/external/source_manifest.json</a:t>
            </a:r>
          </a:p>
          <a:p xmlns:a="http://schemas.openxmlformats.org/drawingml/2006/main">
            <a:r>
              <a:t>- https://github.com/handonn2000/urban-mobility-planning/blob/c14ffe9ab54189af7045a6de9a07c372c91e0ca9/docs/source_data_report.md</a:t>
            </a:r>
          </a:p>
          <a:p xmlns:a="http://schemas.openxmlformats.org/drawingml/2006/main">
            <a:r>
              <a:t>- https://github.com/handonn2000/urban-mobility-planning/blob/c14ffe9ab54189af7045a6de9a07c372c91e0ca9/docs/notebook_execution.json</a:t>
            </a:r>
          </a:p>
          <a:p xmlns:a="http://schemas.openxmlformats.org/drawingml/2006/main">
            <a:r>
              <a:t>- https://github.com/handonn2000/urban-mobility-planning/blob/c14ffe9ab54189af7045a6de9a07c372c91e0ca9/data/processed/daily_segment.csv</a:t>
            </a:r>
          </a:p>
          <a:p xmlns:a="http://schemas.openxmlformats.org/drawingml/2006/main">
            <a:r>
              <a:t>- https://www.nyc.gov/site/tlc/about/tlc-trip-record-data.page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 values are completed trips divided by 1,000 for presentation. Watchlist has 118 alert rows on 58 dates; an alert row is not a unique incident. 56 segment-day rows have insufficient historical baseline. Two cases have documented investigation and unresolved limitations. On 21 January 2025, Lyft zone has 58,431 completed trips, approximately +9.9% versus its available baseline, 10.3% fare exclusion, and wait around +2.1%. This is a data-quality and operational review prompt; it does not establish weather or supply as the cause. Keep fare-sample exclusions separate from trip-volume totals.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https://github.com/handonn2000/urban-mobility-planning/blob/c14ffe9ab54189af7045a6de9a07c372c91e0ca9/data/processed/daily_segment.csv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https://github.com/handonn2000/urban-mobility-planning/blob/c14ffe9ab54189af7045a6de9a07c372c91e0ca9/data/processed/watchlist.csv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https://github.com/handonn2000/urban-mobility-planning/blob/c14ffe9ab54189af7045a6de9a07c372c91e0ca9/data/processed/alert_investigations.csv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https://github.com/handonn2000/urban-mobility-planning/blob/c14ffe9ab54189af7045a6de9a07c372c91e0ca9/data/processed/alert_case_comparison.csv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Relative growth gap = (zone_2025/zone_2024)/(outside_2025/outside_2024) − 1. Main 95% zone threshold results: All −9.4917%, Uber −16.3061%, Lyft +13.6918%. Pooled total trips rise from 13,825,022 to 14,097,953 (+1.9742%), so a negative relative zone gap does not mean the overall market shrank. Both windows contain 21 days and one MLK holiday with matched weekdays. Sensitivities use 90%, 95%, 99% thresholds and matched rain-week removal; pooled directions remain stable. These checks are not statistical confidence intervals and do not remove concurrent platform promotion, weather, macro, or composition confounding. Short-trip pooled gap is −11.5936%; low-fare gap is −23.8928% under the main definition. Avoid presenting a naive elasticity ratio as identified price elasticity.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https://github.com/handonn2000/urban-mobility-planning/blob/c14ffe9ab54189af7045a6de9a07c372c91e0ca9/data/processed/fee_effect.csv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https://github.com/handonn2000/urban-mobility-planning/blob/c14ffe9ab54189af7045a6de9a07c372c91e0ca9/data/processed/fee_sensitivity.csv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https://github.com/handonn2000/urban-mobility-planning/blob/c14ffe9ab54189af7045a6de9a07c372c91e0ca9/data/processed/fee_robustness_summary.csv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Difference in share changes: (26.9995%−26.1297%) − (23.8774%−24.6153%) = +1.607723 percentage points for credit versus post period. Divide by observed post-zone share to obtain the 6.152856% whole-base uplift proxy used in the scenario workbook. A fixed-market counterfactual gives approximately 76,349 extra Lyft zone trips and an alternative 6.3317% denominator-based proxy; these are not independent estimates. Post-period zone volumes actually increase: Lyft +1.15%, Uber +5.76%, pooled +4.52%. Lyft's program is future ride/Citi Bike credit, not cash reimbursement, with seven-day validity and potential use outside the zone. TLC lacks user assignment, actual redemption, cancellations, and retention. Therefore the outside-zone comparison is not guaranteed unaffected, and no causal campaign ROI or total-market incrementality is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https://github.com/handonn2000/urban-mobility-planning/blob/c14ffe9ab54189af7045a6de9a07c372c91e0ca9/data/processed/lyft_share_weekly.csv</a:t>
            </a:r>
          </a:p>
          <a:p xmlns:a="http://schemas.openxmlformats.org/drawingml/2006/main">
            <a:r>
              <a:t>- https://github.com/handonn2000/urban-mobility-planning/blob/c14ffe9ab54189af7045a6de9a07c372c91e0ca9/docs/lyft_credit_analysis.json</a:t>
            </a:r>
          </a:p>
          <a:p xmlns:a="http://schemas.openxmlformats.org/drawingml/2006/main">
            <a:r>
              <a:t>- https://www.lyft.com/blog/posts/navigating-the-new-nyc-congestion-fee-with-lyft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new editable chart is a complete literal snapshot of the documented scenario formula, not observed campaign finance. N=100 baseline trips, u=whole-base incremental trip uplift, c=$1.50, m=$6 contribution per incremental trip before credit, coverage s, redemption r=1, incremental-credit fraction a=1. Extra trips=N*u. Credit cost=N*(s+a*u)*c*r. Net=N*u*m−cost. Break-even whole-base uplift=s*c*r/(m−a*c*r): 33.3333% for s=1, 10% for s=.3. Eligible-population uplift is whole-base uplift divided by s, so the 30% scenario still needs 33.3333% uplift within its eligible baseline. At u=.0615285648,s=1: cost=$159.2293, extra=6.152856, cost/extra=$25.8789, net=−$122.3121 per 100 baseline trips. The $6 margin, redemption and coverage are assumptions; future credit liabilities/cost, actual contribution, user behavior, and Citi Bike redemption are not measured by TLC. Do not reuse the pooled uplift as a causal targeted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https://github.com/handonn2000/urban-mobility-planning/blob/c14ffe9ab54189af7045a6de9a07c372c91e0ca9/docs/lyft_credit_analysis.json</a:t>
            </a:r>
          </a:p>
          <a:p xmlns:a="http://schemas.openxmlformats.org/drawingml/2006/main">
            <a:r>
              <a:t>- https://github.com/handonn2000/urban-mobility-planning/blob/c14ffe9ab54189af7045a6de9a07c372c91e0ca9/data/processed/credit_breakeven_scenarios.csv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https://github.com/handonn2000/urban-mobility-planning/blob/c14ffe9ab54189af7045a6de9a07c372c91e0ca9/data/processed/credit_economics_hand_examples.csv</a:t>
            </a:r>
          </a:p>
          <a:p xmlns:a="http://schemas.openxmlformats.org/drawingml/2006/main">
            <a:r>
              <a:t>- https://github.com/handonn2000/urban-mobility-planning/blob/c14ffe9ab54189af7045a6de9a07c372c91e0ca9/excel/lyft_credit_breakeven.xlsx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Summer window was chosen after reviewing weather availability, before examining trip outcomes. Weather is historical ERA5 at Central Park in America/New_York; matching uses dry comparison hours with study-defined calendar/hour controls and exclusions. Light rain trips factor=1.0306792, wait=1.00336584, 110 usable hours across 32 days and 36 wet events. Moderate/heavy trips=1.07717382 and wait=1.00917431, 35 usable hours across 13 days and 14 events. Displayed bars show (factor−1)*100. Hours within weather events are correlated, so 35 hours are not 35 independent events. Winter moderate/heavy sample is under the study's minimum support threshold. This is descriptive association; it does not identify demand or supply response causally, and the summer factor should not be mechanically transferred to February.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https://github.com/handonn2000/urban-mobility-planning/blob/c14ffe9ab54189af7045a6de9a07c372c91e0ca9/data/processed/rain_factors.csv</a:t>
            </a:r>
          </a:p>
          <a:p xmlns:a="http://schemas.openxmlformats.org/drawingml/2006/main">
            <a:r>
              <a:t>- https://github.com/handonn2000/urban-mobility-planning/blob/c14ffe9ab54189af7045a6de9a07c372c91e0ca9/docs/weather_analysis_summary.json</a:t>
            </a:r>
          </a:p>
          <a:p xmlns:a="http://schemas.openxmlformats.org/drawingml/2006/main">
            <a:r>
              <a:t>- https://open-meteo.com/en/docs/historical-weather-api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 forecasts = seven days × Uber/Lyft × zone/outside. B1 is D−7; B2 is the mean of D−7 and D−14. B2 is prespecified as the planning method. B3 applies a historical MLK factor only on February 17: January 20 divided by the mean of January 13 and 27. Factors use only pre-cutoff trip records. The input history has 188 daily segment rows; 9,961 trips requested before cutoff but completed after cutoff are excluded. Zone calibration uses January 5–31 and does not use future target-week trips. The total B2 plan is 4,871,467.5 (rounded to 4,871,468). All forecast values were frozen and hashed before actuals were joined. TLC publishes monthly with a delay, so this is a retrospective planning simulation with explicit as-of availability assumptions, not a live operational forecast. No future weather or credit input was used. MLK transfer is a scenario, not a probabilistic prediction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https://github.com/handonn2000/urban-mobility-planning/blob/c14ffe9ab54189af7045a6de9a07c372c91e0ca9/data/processed/forecast_week.csv</a:t>
            </a:r>
          </a:p>
          <a:p xmlns:a="http://schemas.openxmlformats.org/drawingml/2006/main">
            <a:r>
              <a:t>- https://github.com/handonn2000/urban-mobility-planning/blob/c14ffe9ab54189af7045a6de9a07c372c91e0ca9/docs/forecast_input_provenance.json</a:t>
            </a:r>
          </a:p>
          <a:p xmlns:a="http://schemas.openxmlformats.org/drawingml/2006/main">
            <a:r>
              <a:t>- https://github.com/handonn2000/urban-mobility-planning/blob/c14ffe9ab54189af7045a6de9a07c372c91e0ca9/docs/holiday_week_forecast_summary.json</a:t>
            </a:r>
          </a:p>
          <a:p xmlns:a="http://schemas.openxmlformats.org/drawingml/2006/main">
            <a:r>
              <a:t>- https://github.com/handonn2000/urban-mobility-planning/blob/c14ffe9ab54189af7045a6de9a07c372c91e0ca9/reports/mobility_planning_memo.pdf</a:t>
            </a:r>
          </a:p>
          <a:p xmlns:a="http://schemas.openxmlformats.org/drawingml/2006/main">
            <a:r>
              <a:t>- https://www.nyc.gov/site/tlc/about/tlc-trip-record-data.page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Retrospective week metrics: B1 WAPE .0444972553, bias .0272741041, MAE 7660.1071 trips/day-segment; B2 WAPE .0348432826, bias .0106485496, MAE 5998.1964; B3 WAPE .0361292428, bias .0101365621, MAE 6219.5717. Actual completed trips=4,820,140. B2 absolute error sum=167,949.5; signed error sum=51,327.5. WAPE=sum(abs(forecast−actual))/sum(actual), not absolute weekly-total error; bias=sum(forecast−actual)/sum(actual). Holiday adjustment improves a segment slightly but worsens other segments; pooled holiday-only WAPE is 1.41% for B2 versus 2.46% for B3. One test week cannot establish a universally superior method. These results were joined only after forecast freezing and should not appear in the original cutoff memo.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https://github.com/handonn2000/urban-mobility-planning/blob/c14ffe9ab54189af7045a6de9a07c372c91e0ca9/data/processed/forecast_scores.csv</a:t>
            </a:r>
          </a:p>
          <a:p xmlns:a="http://schemas.openxmlformats.org/drawingml/2006/main">
            <a:r>
              <a:t>- https://github.com/handonn2000/urban-mobility-planning/blob/c14ffe9ab54189af7045a6de9a07c372c91e0ca9/data/processed/forecast_evaluation.csv</a:t>
            </a:r>
          </a:p>
          <a:p xmlns:a="http://schemas.openxmlformats.org/drawingml/2006/main">
            <a:r>
              <a:t>- https://github.com/handonn2000/urban-mobility-planning/blob/c14ffe9ab54189af7045a6de9a07c372c91e0ca9/docs/holiday_week_forecast_summary.json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proposed experiment, not an executed A/B test. Freeze eligibility before assignment using the prior 28 days so post-treatment behavior does not define the cohort. Randomize a stable user identifier 90/10, preserve assignment across rides, and use intention-to-treat outcomes per assigned eligible user with zero-trip users retained. Economic outcome is incremental net contribution including credit redemption and contribution on all affected rides; estimate confidence intervals with user-level correlation and predeclared analysis. Wait, cancellation, and per-trip contribution are guardrails. Observe at least 14 days of issuance plus seven-day redemption follow-up. Determine sample size from internal eligible-user outcome variance and the minimum detectable effect; do not invent power from aggregate TLC trips. Test Citi Bike/other-channel spillovers, control contamination and redemption data completeness. Expand only when the predeclared incremental contribution criterion and guardrails hold; otherwise stop or redesign. Public data has no user identifiers, assignment or complete booking funnel.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https://github.com/handonn2000/urban-mobility-planning/blob/c14ffe9ab54189af7045a6de9a07c372c91e0ca9/reports/targeted_credit_experiment_brief.pdf</a:t>
            </a:r>
          </a:p>
          <a:p xmlns:a="http://schemas.openxmlformats.org/drawingml/2006/main">
            <a:r>
              <a:t>- https://github.com/handonn2000/urban-mobility-planning/blob/c14ffe9ab54189af7045a6de9a07c372c91e0ca9/docs/lyft_credit_analysis.json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evidence demonstrates the workflow relevant to a Specialist – GIP Demand Planning: segment monitoring, commercial hypothesis evaluation, short-term planning, experiment economics, and stakeholder communication. The self-contained notebook, CSV/JSON outputs, Excel scenario workbook, memos and report previews are available in the public repository. On macOS, CSV grains, denominators, PBIP/PBIR JSON schemas and static previews were checked. The Power BI source draft has 27 measures, 16 relationships, two pages and 19 visuals. DAX execution, native refresh, slicer/heatmap behavior, and PBIX saving require a supported Power BI environment and are not verified. No Power BI or Microsoft 365 publication has been performed. Analysis is AI-assisted, with decisions and limitations recorded in docs/ai-log.md; numeric findings come from executed source processing, not illustrative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audit trail:</a:t>
            </a:r>
          </a:p>
          <a:p xmlns:a="http://schemas.openxmlformats.org/drawingml/2006/main">
            <a:r>
              <a:t>- https://github.com/handonn2000/urban-mobility-planning</a:t>
            </a:r>
          </a:p>
          <a:p xmlns:a="http://schemas.openxmlformats.org/drawingml/2006/main">
            <a:r>
              <a:t>- https://github.com/handonn2000/urban-mobility-planning/blob/c14ffe9ab54189af7045a6de9a07c372c91e0ca9/docs/reporting_pack_validation.json</a:t>
            </a:r>
          </a:p>
          <a:p xmlns:a="http://schemas.openxmlformats.org/drawingml/2006/main">
            <a:r>
              <a:t>- https://github.com/handonn2000/urban-mobility-planning/blob/c14ffe9ab54189af7045a6de9a07c372c91e0ca9/docs/powerbi_source_validation.json</a:t>
            </a:r>
          </a:p>
          <a:p xmlns:a="http://schemas.openxmlformats.org/drawingml/2006/main">
            <a:r>
              <a:t>- https://github.com/handonn2000/urban-mobility-planning/blob/c14ffe9ab54189af7045a6de9a07c372c91e0ca9/docs/notebook_execution.json</a:t>
            </a:r>
          </a:p>
          <a:p xmlns:a="http://schemas.openxmlformats.org/drawingml/2006/main">
            <a:r>
              <a:t>- https://github.com/handonn2000/urban-mobility-planning/blob/c14ffe9ab54189af7045a6de9a07c372c91e0ca9/powerbi/draft/UrbanMobility.pbip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Prepared 14 October 2026. Chart snapshots round values to nine decimal places for Excel portability; source files retain the full calculation precision. All trip metrics represent completed, served demand; unserved bookings and driver supply are not observed. This is a portfolio case study, not a deployed company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d2a01289344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78b79fc2e4c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6590b8b8941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8403088ee4e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9c14d280046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965eb618d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437485-AE7E-4DF2-AFCE-BA26B5225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FBA430-59E1-4672-A78C-5CE416ADAD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F0A74E-46E2-4ADC-B23F-1BFA8AAC0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A3E3A2-9571-4879-94F5-C4616BCC0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E9D067-1B16-4C1E-8060-B7FAA4409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A29B27-39DC-4412-A9ED-D56FA7D9A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22DCD7-2B4F-40F1-89D2-3BE6751F8D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77D1FE-C6F3-40CC-BC14-6E253ED822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FD32BE-D825-461E-A06F-C936F518F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12FF7C-B87E-4D85-AD3F-4BD300601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c3bfab98349f5" /><Relationship Type="http://schemas.openxmlformats.org/officeDocument/2006/relationships/slideLayout" Target="/ppt/slideLayouts/slideLayout1.xml" Id="R4d16301556254733" /><Relationship Type="http://schemas.openxmlformats.org/officeDocument/2006/relationships/slideLayout" Target="/ppt/slideLayouts/slideLayout2.xml" Id="R219c20f3f8ff48a3" /><Relationship Type="http://schemas.openxmlformats.org/officeDocument/2006/relationships/slideLayout" Target="/ppt/slideLayouts/slideLayout3.xml" Id="R2f13ec04b8ab4eeb" /><Relationship Type="http://schemas.openxmlformats.org/officeDocument/2006/relationships/slideLayout" Target="/ppt/slideLayouts/slideLayout4.xml" Id="R03fa13d7f1284e8e" /><Relationship Type="http://schemas.openxmlformats.org/officeDocument/2006/relationships/slideLayout" Target="/ppt/slideLayouts/slideLayout5.xml" Id="Rfdd42ba0c052439a" /><Relationship Type="http://schemas.openxmlformats.org/officeDocument/2006/relationships/slideLayout" Target="/ppt/slideLayouts/slideLayout6.xml" Id="R18507d8b8f33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6301556254733"/>
    <p:sldLayoutId xmlns:r="http://schemas.openxmlformats.org/officeDocument/2006/relationships" id="2147483650" r:id="R219c20f3f8ff48a3"/>
    <p:sldLayoutId xmlns:r="http://schemas.openxmlformats.org/officeDocument/2006/relationships" id="2147483651" r:id="R2f13ec04b8ab4eeb"/>
    <p:sldLayoutId xmlns:r="http://schemas.openxmlformats.org/officeDocument/2006/relationships" id="2147483652" r:id="R03fa13d7f1284e8e"/>
    <p:sldLayoutId xmlns:r="http://schemas.openxmlformats.org/officeDocument/2006/relationships" id="2147483653" r:id="Rfdd42ba0c052439a"/>
    <p:sldLayoutId xmlns:r="http://schemas.openxmlformats.org/officeDocument/2006/relationships" id="2147483654" r:id="R18507d8b8f33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f73745cc348a5" /><Relationship Type="http://schemas.openxmlformats.org/officeDocument/2006/relationships/image" Target="/ppt/media/image.png" Id="Rb25cf9943a4c4245" /><Relationship Type="http://schemas.openxmlformats.org/officeDocument/2006/relationships/notesSlide" Target="/ppt/notesSlides/notesSlide1.xml" Id="Rb94fcefc95a8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cd576b06a4a14" /><Relationship Type="http://schemas.openxmlformats.org/officeDocument/2006/relationships/notesSlide" Target="/ppt/notesSlides/notesSlide2.xml" Id="Rf72ba24539fc45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0de1de43d49fe" /><Relationship Type="http://schemas.openxmlformats.org/officeDocument/2006/relationships/notesSlide" Target="/ppt/notesSlides/notesSlide3.xml" Id="R23d96a71908041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1b835cc2744d3" /><Relationship Type="http://schemas.openxmlformats.org/officeDocument/2006/relationships/chart" Target="/ppt/slides/charts/chart1.xml" Id="Rbf987f68e3b54360" /><Relationship Type="http://schemas.openxmlformats.org/officeDocument/2006/relationships/notesSlide" Target="/ppt/notesSlides/notesSlide4.xml" Id="R334bfbe3998041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8b1eb02f54e78" /><Relationship Type="http://schemas.openxmlformats.org/officeDocument/2006/relationships/chart" Target="/ppt/slides/charts/chart2.xml" Id="R038db89fbc9445e2" /><Relationship Type="http://schemas.openxmlformats.org/officeDocument/2006/relationships/notesSlide" Target="/ppt/notesSlides/notesSlide5.xml" Id="Rd957b01a513344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fc9115f454314" /><Relationship Type="http://schemas.openxmlformats.org/officeDocument/2006/relationships/chart" Target="/ppt/slides/charts/chart3.xml" Id="Rc0d9f1a2362644bb" /><Relationship Type="http://schemas.openxmlformats.org/officeDocument/2006/relationships/notesSlide" Target="/ppt/notesSlides/notesSlide6.xml" Id="R0f7b068e1d3646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c5517e3dc485f" /><Relationship Type="http://schemas.openxmlformats.org/officeDocument/2006/relationships/chart" Target="/ppt/slides/charts/chart4.xml" Id="Rf1d3f2f36bcf459c" /><Relationship Type="http://schemas.openxmlformats.org/officeDocument/2006/relationships/notesSlide" Target="/ppt/notesSlides/notesSlide7.xml" Id="Rdbef9057862447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a151aa770484f" /><Relationship Type="http://schemas.openxmlformats.org/officeDocument/2006/relationships/chart" Target="/ppt/slides/charts/chart5.xml" Id="R1b8d0338cb4e4ec8" /><Relationship Type="http://schemas.openxmlformats.org/officeDocument/2006/relationships/notesSlide" Target="/ppt/notesSlides/notesSlide8.xml" Id="R10163b5c8c2046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582717ca1438b" /><Relationship Type="http://schemas.openxmlformats.org/officeDocument/2006/relationships/chart" Target="/ppt/slides/charts/chart6.xml" Id="R635793ee91804b8a" /><Relationship Type="http://schemas.openxmlformats.org/officeDocument/2006/relationships/notesSlide" Target="/ppt/notesSlides/notesSlide9.xml" Id="Rba4e657f5b744f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8c9b6c53b4251" /><Relationship Type="http://schemas.openxmlformats.org/officeDocument/2006/relationships/chart" Target="/ppt/slides/charts/chart7.xml" Id="R69af19cd50544e32" /><Relationship Type="http://schemas.openxmlformats.org/officeDocument/2006/relationships/notesSlide" Target="/ppt/notesSlides/notesSlide10.xml" Id="Raaddedfb939145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3d5a548bd4bee" /><Relationship Type="http://schemas.openxmlformats.org/officeDocument/2006/relationships/notesSlide" Target="/ppt/notesSlides/notesSlide11.xml" Id="R7bf20daea57b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d148488ff41bc" /><Relationship Type="http://schemas.openxmlformats.org/officeDocument/2006/relationships/hyperlink" Target="https://github.com/handonn2000/urban-mobility-planning" TargetMode="External" Id="Rffb50ba2a0d24c22" /><Relationship Type="http://schemas.openxmlformats.org/officeDocument/2006/relationships/notesSlide" Target="/ppt/notesSlides/notesSlide12.xml" Id="Re91e71cba1f046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Uber outside</c:v>
          </c:tx>
          <c:spPr>
            <a:ln xmlns:a="http://schemas.openxmlformats.org/drawingml/2006/main" w="28575">
              <a:solidFill>
                <a:srgbClr val="142F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42F3B"/>
              </a:solidFill>
            </c:spPr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</c:numCache>
            </c:numRef>
          </c:cat>
          <c:val>
            <c:numRef>
              <c:f>'Chart Data'!$B$2:$B$22</c:f>
              <c:numCache>
                <c:formatCode>0"k"</c:formatCode>
                <c:ptCount val="21"/>
                <c:pt idx="0">
                  <c:v>298.174</c:v>
                </c:pt>
                <c:pt idx="1">
                  <c:v>311.361</c:v>
                </c:pt>
                <c:pt idx="2">
                  <c:v>322.8</c:v>
                </c:pt>
                <c:pt idx="3">
                  <c:v>340.791</c:v>
                </c:pt>
                <c:pt idx="4">
                  <c:v>365.721</c:v>
                </c:pt>
                <c:pt idx="5">
                  <c:v>367.224</c:v>
                </c:pt>
                <c:pt idx="6">
                  <c:v>320.78</c:v>
                </c:pt>
                <c:pt idx="7">
                  <c:v>294.47</c:v>
                </c:pt>
                <c:pt idx="8">
                  <c:v>313.189</c:v>
                </c:pt>
                <c:pt idx="9">
                  <c:v>339.415</c:v>
                </c:pt>
                <c:pt idx="10">
                  <c:v>344.029</c:v>
                </c:pt>
                <c:pt idx="11">
                  <c:v>377.291</c:v>
                </c:pt>
                <c:pt idx="12">
                  <c:v>372.708</c:v>
                </c:pt>
                <c:pt idx="13">
                  <c:v>337.427</c:v>
                </c:pt>
                <c:pt idx="14">
                  <c:v>304.115</c:v>
                </c:pt>
                <c:pt idx="15">
                  <c:v>334.107</c:v>
                </c:pt>
                <c:pt idx="16">
                  <c:v>340.332</c:v>
                </c:pt>
                <c:pt idx="17">
                  <c:v>339.657</c:v>
                </c:pt>
                <c:pt idx="18">
                  <c:v>378.431</c:v>
                </c:pt>
                <c:pt idx="19">
                  <c:v>381.898</c:v>
                </c:pt>
                <c:pt idx="20">
                  <c:v>332.849</c:v>
                </c:pt>
              </c:numCache>
            </c:numRef>
          </c:val>
          <c:smooth val="0"/>
        </c:ser>
        <c:ser>
          <c:idx val="1"/>
          <c:order val="1"/>
          <c:tx>
            <c:v>Uber zone</c:v>
          </c:tx>
          <c:spPr>
            <a:ln xmlns:a="http://schemas.openxmlformats.org/drawingml/2006/main" w="28575">
              <a:solidFill>
                <a:srgbClr val="0C625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C625B"/>
              </a:solidFill>
            </c:spPr>
          </c:marker>
          <c:cat>
            <c:numRef>
              <c:f>'Chart Data'!$C$2:$C$22</c:f>
              <c:numCache>
                <c:formatCode>General</c:formatCode>
                <c:ptCount val="21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</c:numCache>
            </c:numRef>
          </c:cat>
          <c:val>
            <c:numRef>
              <c:f>'Chart Data'!$D$2:$D$22</c:f>
              <c:numCache>
                <c:formatCode>0"k"</c:formatCode>
                <c:ptCount val="21"/>
                <c:pt idx="0">
                  <c:v>114.251</c:v>
                </c:pt>
                <c:pt idx="1">
                  <c:v>131.723</c:v>
                </c:pt>
                <c:pt idx="2">
                  <c:v>142.647</c:v>
                </c:pt>
                <c:pt idx="3">
                  <c:v>159.72</c:v>
                </c:pt>
                <c:pt idx="4">
                  <c:v>170.645</c:v>
                </c:pt>
                <c:pt idx="5">
                  <c:v>205.97</c:v>
                </c:pt>
                <c:pt idx="6">
                  <c:v>163.316</c:v>
                </c:pt>
                <c:pt idx="7">
                  <c:v>142.729</c:v>
                </c:pt>
                <c:pt idx="8">
                  <c:v>163.118</c:v>
                </c:pt>
                <c:pt idx="9">
                  <c:v>171.09</c:v>
                </c:pt>
                <c:pt idx="10">
                  <c:v>173.515</c:v>
                </c:pt>
                <c:pt idx="11">
                  <c:v>174.028</c:v>
                </c:pt>
                <c:pt idx="12">
                  <c:v>195.173</c:v>
                </c:pt>
                <c:pt idx="13">
                  <c:v>156.41</c:v>
                </c:pt>
                <c:pt idx="14">
                  <c:v>130.001</c:v>
                </c:pt>
                <c:pt idx="15">
                  <c:v>159.18</c:v>
                </c:pt>
                <c:pt idx="16">
                  <c:v>174.347</c:v>
                </c:pt>
                <c:pt idx="17">
                  <c:v>178.535</c:v>
                </c:pt>
                <c:pt idx="18">
                  <c:v>184.432</c:v>
                </c:pt>
                <c:pt idx="19">
                  <c:v>213.408</c:v>
                </c:pt>
                <c:pt idx="20">
                  <c:v>162.456</c:v>
                </c:pt>
              </c:numCache>
            </c:numRef>
          </c:val>
          <c:smooth val="0"/>
        </c:ser>
        <c:ser>
          <c:idx val="2"/>
          <c:order val="2"/>
          <c:tx>
            <c:v>Lyft outside</c:v>
          </c:tx>
          <c:spPr>
            <a:ln xmlns:a="http://schemas.openxmlformats.org/drawingml/2006/main" w="28575">
              <a:solidFill>
                <a:srgbClr val="C36C37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36C37"/>
              </a:solidFill>
            </c:spPr>
          </c:marker>
          <c:cat>
            <c:numRef>
              <c:f>'Chart Data'!$E$2:$E$22</c:f>
              <c:numCache>
                <c:formatCode>General</c:formatCode>
                <c:ptCount val="21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</c:numCache>
            </c:numRef>
          </c:cat>
          <c:val>
            <c:numRef>
              <c:f>'Chart Data'!$F$2:$F$22</c:f>
              <c:numCache>
                <c:formatCode>0"k"</c:formatCode>
                <c:ptCount val="21"/>
                <c:pt idx="0">
                  <c:v>104.115</c:v>
                </c:pt>
                <c:pt idx="1">
                  <c:v>110.819</c:v>
                </c:pt>
                <c:pt idx="2">
                  <c:v>114.609</c:v>
                </c:pt>
                <c:pt idx="3">
                  <c:v>121.557</c:v>
                </c:pt>
                <c:pt idx="4">
                  <c:v>114.808</c:v>
                </c:pt>
                <c:pt idx="5">
                  <c:v>107.923</c:v>
                </c:pt>
                <c:pt idx="6">
                  <c:v>90.255</c:v>
                </c:pt>
                <c:pt idx="7">
                  <c:v>88.171</c:v>
                </c:pt>
                <c:pt idx="8">
                  <c:v>87.766</c:v>
                </c:pt>
                <c:pt idx="9">
                  <c:v>92.806</c:v>
                </c:pt>
                <c:pt idx="10">
                  <c:v>107.503</c:v>
                </c:pt>
                <c:pt idx="11">
                  <c:v>116.088</c:v>
                </c:pt>
                <c:pt idx="12">
                  <c:v>118.467</c:v>
                </c:pt>
                <c:pt idx="13">
                  <c:v>104.25</c:v>
                </c:pt>
                <c:pt idx="14">
                  <c:v>88.77</c:v>
                </c:pt>
                <c:pt idx="15">
                  <c:v>107.394</c:v>
                </c:pt>
                <c:pt idx="16">
                  <c:v>108.448</c:v>
                </c:pt>
                <c:pt idx="17">
                  <c:v>113.168</c:v>
                </c:pt>
                <c:pt idx="18">
                  <c:v>122.64</c:v>
                </c:pt>
                <c:pt idx="19">
                  <c:v>116.491</c:v>
                </c:pt>
                <c:pt idx="20">
                  <c:v>96.271</c:v>
                </c:pt>
              </c:numCache>
            </c:numRef>
          </c:val>
          <c:smooth val="0"/>
        </c:ser>
        <c:ser>
          <c:idx val="3"/>
          <c:order val="3"/>
          <c:tx>
            <c:v>Lyft zone</c:v>
          </c:tx>
          <c:spPr>
            <a:ln xmlns:a="http://schemas.openxmlformats.org/drawingml/2006/main" w="28575">
              <a:solidFill>
                <a:srgbClr val="419A9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19A9B"/>
              </a:solidFill>
            </c:spPr>
          </c:marker>
          <c:cat>
            <c:numRef>
              <c:f>'Chart Data'!$G$2:$G$22</c:f>
              <c:numCache>
                <c:formatCode>General</c:formatCode>
                <c:ptCount val="21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  <c:pt idx="18">
                  <c:v>24</c:v>
                </c:pt>
                <c:pt idx="19">
                  <c:v>25</c:v>
                </c:pt>
                <c:pt idx="20">
                  <c:v>26</c:v>
                </c:pt>
              </c:numCache>
            </c:numRef>
          </c:cat>
          <c:val>
            <c:numRef>
              <c:f>'Chart Data'!$H$2:$H$22</c:f>
              <c:numCache>
                <c:formatCode>0"k"</c:formatCode>
                <c:ptCount val="21"/>
                <c:pt idx="0">
                  <c:v>46.044</c:v>
                </c:pt>
                <c:pt idx="1">
                  <c:v>54.544</c:v>
                </c:pt>
                <c:pt idx="2">
                  <c:v>61.218</c:v>
                </c:pt>
                <c:pt idx="3">
                  <c:v>65.29</c:v>
                </c:pt>
                <c:pt idx="4">
                  <c:v>63.761</c:v>
                </c:pt>
                <c:pt idx="5">
                  <c:v>73.952</c:v>
                </c:pt>
                <c:pt idx="6">
                  <c:v>57.023</c:v>
                </c:pt>
                <c:pt idx="7">
                  <c:v>47.944</c:v>
                </c:pt>
                <c:pt idx="8">
                  <c:v>51.764</c:v>
                </c:pt>
                <c:pt idx="9">
                  <c:v>53.855</c:v>
                </c:pt>
                <c:pt idx="10">
                  <c:v>62.615</c:v>
                </c:pt>
                <c:pt idx="11">
                  <c:v>60.929</c:v>
                </c:pt>
                <c:pt idx="12">
                  <c:v>71.63</c:v>
                </c:pt>
                <c:pt idx="13">
                  <c:v>61.777</c:v>
                </c:pt>
                <c:pt idx="14">
                  <c:v>46.991</c:v>
                </c:pt>
                <c:pt idx="15">
                  <c:v>58.431</c:v>
                </c:pt>
                <c:pt idx="16">
                  <c:v>63.273</c:v>
                </c:pt>
                <c:pt idx="17">
                  <c:v>67.337</c:v>
                </c:pt>
                <c:pt idx="18">
                  <c:v>71.068</c:v>
                </c:pt>
                <c:pt idx="19">
                  <c:v>80.454</c:v>
                </c:pt>
                <c:pt idx="20">
                  <c:v>62.271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January 2025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F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growth gap</c:v>
          </c:tx>
          <c:spPr>
            <a:solidFill xmlns:a="http://schemas.openxmlformats.org/drawingml/2006/main">
              <a:srgbClr val="0C625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1727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42F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C625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All</c:v>
                </c:pt>
                <c:pt idx="1">
                  <c:v>Uber</c:v>
                </c:pt>
                <c:pt idx="2">
                  <c:v>Lyft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-0.094916555</c:v>
                </c:pt>
                <c:pt idx="1">
                  <c:v>-0.163060798</c:v>
                </c:pt>
                <c:pt idx="2">
                  <c:v>0.13691846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42F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DE4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Zone</c:v>
          </c:tx>
          <c:spPr>
            <a:ln xmlns:a="http://schemas.openxmlformats.org/drawingml/2006/main" w="28575">
              <a:solidFill>
                <a:srgbClr val="0C625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C625B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06 Jan</c:v>
                </c:pt>
                <c:pt idx="1">
                  <c:v>13 Jan</c:v>
                </c:pt>
                <c:pt idx="2">
                  <c:v>20 Jan</c:v>
                </c:pt>
                <c:pt idx="3">
                  <c:v>27 Jan</c:v>
                </c:pt>
                <c:pt idx="4">
                  <c:v>03 Feb</c:v>
                </c:pt>
                <c:pt idx="5">
                  <c:v>10 Feb</c:v>
                </c:pt>
                <c:pt idx="6">
                  <c:v>17 Feb</c:v>
                </c:pt>
              </c:strCache>
            </c:str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0.279339701</c:v>
                </c:pt>
                <c:pt idx="1">
                  <c:v>0.258741933</c:v>
                </c:pt>
                <c:pt idx="2">
                  <c:v>0.272260838</c:v>
                </c:pt>
                <c:pt idx="3">
                  <c:v>0.267156365</c:v>
                </c:pt>
                <c:pt idx="4">
                  <c:v>0.256649633</c:v>
                </c:pt>
                <c:pt idx="5">
                  <c:v>0.258706043</c:v>
                </c:pt>
                <c:pt idx="6">
                  <c:v>0.268705721</c:v>
                </c:pt>
              </c:numCache>
            </c:numRef>
          </c:val>
          <c:smooth val="0"/>
        </c:ser>
        <c:ser>
          <c:idx val="1"/>
          <c:order val="1"/>
          <c:tx>
            <c:v>Outside</c:v>
          </c:tx>
          <c:spPr>
            <a:ln xmlns:a="http://schemas.openxmlformats.org/drawingml/2006/main" w="28575">
              <a:solidFill>
                <a:srgbClr val="C36C37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36C37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06 Jan</c:v>
                </c:pt>
                <c:pt idx="1">
                  <c:v>13 Jan</c:v>
                </c:pt>
                <c:pt idx="2">
                  <c:v>20 Jan</c:v>
                </c:pt>
                <c:pt idx="3">
                  <c:v>27 Jan</c:v>
                </c:pt>
                <c:pt idx="4">
                  <c:v>03 Feb</c:v>
                </c:pt>
                <c:pt idx="5">
                  <c:v>10 Feb</c:v>
                </c:pt>
                <c:pt idx="6">
                  <c:v>17 Feb</c:v>
                </c:pt>
              </c:strCache>
            </c:strRef>
          </c:cat>
          <c:val>
            <c:numRef>
              <c:f>'Chart Data'!$D$2:$D$8</c:f>
              <c:numCache>
                <c:formatCode>0%</c:formatCode>
                <c:ptCount val="7"/>
                <c:pt idx="0">
                  <c:v>0.247202062</c:v>
                </c:pt>
                <c:pt idx="1">
                  <c:v>0.231140297</c:v>
                </c:pt>
                <c:pt idx="2">
                  <c:v>0.238004456</c:v>
                </c:pt>
                <c:pt idx="3">
                  <c:v>0.238987086</c:v>
                </c:pt>
                <c:pt idx="4">
                  <c:v>0.246840542</c:v>
                </c:pt>
                <c:pt idx="5">
                  <c:v>0.24254767</c:v>
                </c:pt>
                <c:pt idx="6">
                  <c:v>0.249206442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.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F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100% baseline coverage</c:v>
          </c:tx>
          <c:spPr>
            <a:ln xmlns:a="http://schemas.openxmlformats.org/drawingml/2006/main" w="28575">
              <a:solidFill>
                <a:srgbClr val="142F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42F3B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  <c:pt idx="6">
                  <c:v>30%</c:v>
                </c:pt>
                <c:pt idx="7">
                  <c:v>35%</c:v>
                </c:pt>
                <c:pt idx="8">
                  <c:v>40%</c:v>
                </c:pt>
              </c:strCache>
            </c:strRef>
          </c:cat>
          <c:val>
            <c:numRef>
              <c:f>'Chart Data'!$B$2:$B$10</c:f>
              <c:numCache>
                <c:formatCode>"$"0</c:formatCode>
                <c:ptCount val="9"/>
                <c:pt idx="0">
                  <c:v>-150</c:v>
                </c:pt>
                <c:pt idx="1">
                  <c:v>-127.5</c:v>
                </c:pt>
                <c:pt idx="2">
                  <c:v>-105</c:v>
                </c:pt>
                <c:pt idx="3">
                  <c:v>-82.5</c:v>
                </c:pt>
                <c:pt idx="4">
                  <c:v>-60</c:v>
                </c:pt>
                <c:pt idx="5">
                  <c:v>-37.5</c:v>
                </c:pt>
                <c:pt idx="6">
                  <c:v>-15</c:v>
                </c:pt>
                <c:pt idx="7">
                  <c:v>7.5</c:v>
                </c:pt>
                <c:pt idx="8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v>30% baseline coverage</c:v>
          </c:tx>
          <c:spPr>
            <a:ln xmlns:a="http://schemas.openxmlformats.org/drawingml/2006/main" w="28575">
              <a:solidFill>
                <a:srgbClr val="0C625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C625B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  <c:pt idx="6">
                  <c:v>30%</c:v>
                </c:pt>
                <c:pt idx="7">
                  <c:v>35%</c:v>
                </c:pt>
                <c:pt idx="8">
                  <c:v>40%</c:v>
                </c:pt>
              </c:strCache>
            </c:strRef>
          </c:cat>
          <c:val>
            <c:numRef>
              <c:f>'Chart Data'!$D$2:$D$10</c:f>
              <c:numCache>
                <c:formatCode>"$"0</c:formatCode>
                <c:ptCount val="9"/>
                <c:pt idx="0">
                  <c:v>-45</c:v>
                </c:pt>
                <c:pt idx="1">
                  <c:v>-22.5</c:v>
                </c:pt>
                <c:pt idx="2">
                  <c:v>0</c:v>
                </c:pt>
                <c:pt idx="3">
                  <c:v>22.5</c:v>
                </c:pt>
                <c:pt idx="4">
                  <c:v>45</c:v>
                </c:pt>
                <c:pt idx="5">
                  <c:v>67.5</c:v>
                </c:pt>
                <c:pt idx="6">
                  <c:v>90</c:v>
                </c:pt>
                <c:pt idx="7">
                  <c:v>112.5</c:v>
                </c:pt>
                <c:pt idx="8">
                  <c:v>135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Whole-base incremental trip uplift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-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&quot;$&quot;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F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Trips</c:v>
          </c:tx>
          <c:spPr>
            <a:solidFill xmlns:a="http://schemas.openxmlformats.org/drawingml/2006/main">
              <a:srgbClr val="0C625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Light rain</c:v>
                </c:pt>
                <c:pt idx="1">
                  <c:v>Moderate / heavy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0.030679161</c:v>
                </c:pt>
                <c:pt idx="1">
                  <c:v>0.077173816</c:v>
                </c:pt>
              </c:numCache>
            </c:numRef>
          </c:val>
        </c:ser>
        <c:ser>
          <c:idx val="1"/>
          <c:order val="1"/>
          <c:tx>
            <c:v>Wait</c:v>
          </c:tx>
          <c:spPr>
            <a:solidFill xmlns:a="http://schemas.openxmlformats.org/drawingml/2006/main">
              <a:srgbClr val="C36C37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Light rain</c:v>
                </c:pt>
                <c:pt idx="1">
                  <c:v>Moderate / heavy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0.003365838</c:v>
                </c:pt>
                <c:pt idx="1">
                  <c:v>0.009174312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42F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DE4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F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Two-week weekday mean</c:v>
          </c:tx>
          <c:spPr>
            <a:solidFill xmlns:a="http://schemas.openxmlformats.org/drawingml/2006/main">
              <a:srgbClr val="0C625B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17 Feb</c:v>
                </c:pt>
                <c:pt idx="1">
                  <c:v>18 Feb</c:v>
                </c:pt>
                <c:pt idx="2">
                  <c:v>19 Feb</c:v>
                </c:pt>
                <c:pt idx="3">
                  <c:v>20 Feb</c:v>
                </c:pt>
                <c:pt idx="4">
                  <c:v>21 Feb</c:v>
                </c:pt>
                <c:pt idx="5">
                  <c:v>22 Feb</c:v>
                </c:pt>
                <c:pt idx="6">
                  <c:v>23 Feb</c:v>
                </c:pt>
              </c:strCache>
            </c:strRef>
          </c:cat>
          <c:val>
            <c:numRef>
              <c:f>'Chart Data'!$B$2:$B$8</c:f>
              <c:numCache>
                <c:formatCode>0"k"</c:formatCode>
                <c:ptCount val="7"/>
                <c:pt idx="0">
                  <c:v>591.617</c:v>
                </c:pt>
                <c:pt idx="1">
                  <c:v>623.5125</c:v>
                </c:pt>
                <c:pt idx="2">
                  <c:v>662.746</c:v>
                </c:pt>
                <c:pt idx="3">
                  <c:v>712.8045</c:v>
                </c:pt>
                <c:pt idx="4">
                  <c:v>793.3635</c:v>
                </c:pt>
                <c:pt idx="5">
                  <c:v>799.2685</c:v>
                </c:pt>
                <c:pt idx="6">
                  <c:v>688.1555</c:v>
                </c:pt>
              </c:numCache>
            </c:numRef>
          </c:val>
        </c:ser>
        <c:dLbls>
          <c:numFmt formatCode="0&quot;k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42F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DE4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WAPE</c:v>
          </c:tx>
          <c:spPr>
            <a:solidFill xmlns:a="http://schemas.openxmlformats.org/drawingml/2006/main">
              <a:srgbClr val="0C625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1727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C62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36C3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D−7</c:v>
                </c:pt>
                <c:pt idx="1">
                  <c:v>Two-week mean</c:v>
                </c:pt>
                <c:pt idx="2">
                  <c:v>MLK adjustment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0.044497255</c:v>
                </c:pt>
                <c:pt idx="1">
                  <c:v>0.034843283</c:v>
                </c:pt>
                <c:pt idx="2">
                  <c:v>0.036129243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F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DE4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AA0B4-F31F-4C02-886A-7F72D043B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cf9943a4c42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-0">
            <a:extLst xmlns:a="http://schemas.openxmlformats.org/drawingml/2006/main">
              <a:ext uri="{FF2B5EF4-FFF2-40B4-BE49-F238E27FC236}">
                <a16:creationId xmlns:a16="http://schemas.microsoft.com/office/drawing/2014/main" id="{57A6DED1-5AD2-4CFE-8EAF-E41A8771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B8D6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8D6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D6D4"/>
                </a:solidFill>
                <a:latin typeface="Arial"/>
                <a:ea typeface="Arial"/>
                <a:cs typeface="Arial"/>
              </a:rPr>
              <a:t>PUBLIC-DATA PORTFOLIO CASE STUDY</a:t>
            </a:r>
          </a:p>
        </p:txBody>
      </p:sp>
      <p:sp>
        <p:nvSpPr>
          <p:cNvPr id="3" name="text-1-1">
            <a:extLst xmlns:a="http://schemas.openxmlformats.org/drawingml/2006/main">
              <a:ext uri="{FF2B5EF4-FFF2-40B4-BE49-F238E27FC236}">
                <a16:creationId xmlns:a16="http://schemas.microsoft.com/office/drawing/2014/main" id="{D55276A8-82C0-434C-BBFD-8A50B90F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52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 planning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urban mobility</a:t>
            </a:r>
          </a:p>
        </p:txBody>
      </p:sp>
      <p:sp>
        <p:nvSpPr>
          <p:cNvPr id="4" name="text-1-2">
            <a:extLst xmlns:a="http://schemas.openxmlformats.org/drawingml/2006/main">
              <a:ext uri="{FF2B5EF4-FFF2-40B4-BE49-F238E27FC236}">
                <a16:creationId xmlns:a16="http://schemas.microsoft.com/office/drawing/2014/main" id="{C74A46B9-C08A-415B-BCF8-86A0D985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10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FE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FE9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FE9E8"/>
                </a:solidFill>
                <a:latin typeface="Arial"/>
                <a:ea typeface="Arial"/>
                <a:cs typeface="Arial"/>
              </a:rPr>
              <a:t>Pricing, credit economics and a holiday-week plan</a:t>
            </a:r>
          </a:p>
        </p:txBody>
      </p:sp>
      <p:sp>
        <p:nvSpPr>
          <p:cNvPr id="5" name="text-1-3">
            <a:extLst xmlns:a="http://schemas.openxmlformats.org/drawingml/2006/main">
              <a:ext uri="{FF2B5EF4-FFF2-40B4-BE49-F238E27FC236}">
                <a16:creationId xmlns:a16="http://schemas.microsoft.com/office/drawing/2014/main" id="{F378632C-A854-4906-8D68-2B160984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768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Specialist – GIP Demand Planning</a:t>
            </a:r>
          </a:p>
        </p:txBody>
      </p:sp>
      <p:sp>
        <p:nvSpPr>
          <p:cNvPr id="6" name="text-1-4">
            <a:extLst xmlns:a="http://schemas.openxmlformats.org/drawingml/2006/main">
              <a:ext uri="{FF2B5EF4-FFF2-40B4-BE49-F238E27FC236}">
                <a16:creationId xmlns:a16="http://schemas.microsoft.com/office/drawing/2014/main" id="{4E494BED-EA4E-4A7A-A407-E5540A4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911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6D7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6D7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7D9"/>
                </a:solidFill>
                <a:latin typeface="Arial"/>
                <a:ea typeface="Arial"/>
                <a:cs typeface="Arial"/>
              </a:rPr>
              <a:t>NYC · Uber &amp; Lyft · 2024–2025 research data</a:t>
            </a:r>
          </a:p>
        </p:txBody>
      </p:sp>
      <p:sp>
        <p:nvSpPr>
          <p:cNvPr id="7" name="text-1-5">
            <a:extLst xmlns:a="http://schemas.openxmlformats.org/drawingml/2006/main">
              <a:ext uri="{FF2B5EF4-FFF2-40B4-BE49-F238E27FC236}">
                <a16:creationId xmlns:a16="http://schemas.microsoft.com/office/drawing/2014/main" id="{A605CF72-A5DD-4AC9-B160-08BC566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6D7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6D7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6D7D9"/>
                </a:solidFill>
                <a:latin typeface="Arial"/>
                <a:ea typeface="Arial"/>
                <a:cs typeface="Arial"/>
              </a:rPr>
              <a:t>Prepared October 2026  ·  Illustrative cover image</a:t>
            </a:r>
          </a:p>
        </p:txBody>
      </p:sp>
    </p:spTree>
    <p:extLst>
      <p:ext uri="{BB962C8B-B14F-4D97-AF65-F5344CB8AC3E}">
        <p14:creationId xmlns:p14="http://schemas.microsoft.com/office/powerpoint/2010/main" val="1903480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-0">
            <a:extLst xmlns:a="http://schemas.openxmlformats.org/drawingml/2006/main">
              <a:ext uri="{FF2B5EF4-FFF2-40B4-BE49-F238E27FC236}">
                <a16:creationId xmlns:a16="http://schemas.microsoft.com/office/drawing/2014/main" id="{A6652F91-449A-4E1D-85A2-AD18CFE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PLANNING PRIORITIES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9CAC6EC2-7DFC-4361-8EE1-4B24C64C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Three decisions supported by the analysis</a:t>
            </a:r>
          </a:p>
        </p:txBody>
      </p:sp>
      <p:sp>
        <p:nvSpPr>
          <p:cNvPr id="3" name="text-2-2">
            <a:extLst xmlns:a="http://schemas.openxmlformats.org/drawingml/2006/main">
              <a:ext uri="{FF2B5EF4-FFF2-40B4-BE49-F238E27FC236}">
                <a16:creationId xmlns:a16="http://schemas.microsoft.com/office/drawing/2014/main" id="{07ABFDBE-691F-49DF-9AA8-655FFBF5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Turn observed signals into a plan, a commercial hypothesis and a test.</a:t>
            </a:r>
          </a:p>
        </p:txBody>
      </p:sp>
      <p:sp>
        <p:nvSpPr>
          <p:cNvPr id="4" name="text-2-3">
            <a:extLst xmlns:a="http://schemas.openxmlformats.org/drawingml/2006/main">
              <a:ext uri="{FF2B5EF4-FFF2-40B4-BE49-F238E27FC236}">
                <a16:creationId xmlns:a16="http://schemas.microsoft.com/office/drawing/2014/main" id="{6977A8CA-28EF-43FD-B69B-2D16ECB3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2-4">
            <a:extLst xmlns:a="http://schemas.openxmlformats.org/drawingml/2006/main">
              <a:ext uri="{FF2B5EF4-FFF2-40B4-BE49-F238E27FC236}">
                <a16:creationId xmlns:a16="http://schemas.microsoft.com/office/drawing/2014/main" id="{9F50C80E-7E0B-4368-B3CE-03347C6F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CEED8-A24D-4079-B9CB-0A53538F3C58}"/>
              </a:ext>
            </a:extLst>
          </p:cNvPr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11125200" cy="3286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238625"/>
                <a:gridCol w="3933825"/>
              </a:tblGrid>
              <a:tr h="4953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Planning question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from the project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Recommended action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</a:tr>
              <a:tr h="9302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Where is demand shifting?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−9.49% relative zone growth gap; operator responses differ.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Monitor operator and trip segments before a pricing response.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9302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Should credit be expanded?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+1.61 pp share difference; $25.88 scenario cost per extra trip.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Test targeted credit and incremental contribution before scale.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9302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What volume should be planned?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4.871M planned trips; 3.48% retrospective WAPE.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Use the two-week weekday mean, with a holiday scenario.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7" name="text-2-5">
            <a:extLst xmlns:a="http://schemas.openxmlformats.org/drawingml/2006/main">
              <a:ext uri="{FF2B5EF4-FFF2-40B4-BE49-F238E27FC236}">
                <a16:creationId xmlns:a16="http://schemas.microsoft.com/office/drawing/2014/main" id="{55AB4425-C875-4542-9F32-1BC9A73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Decision stance: plan the week, investigate the shift, test the spend.</a:t>
            </a:r>
          </a:p>
        </p:txBody>
      </p:sp>
    </p:spTree>
    <p:extLst>
      <p:ext uri="{BB962C8B-B14F-4D97-AF65-F5344CB8AC3E}">
        <p14:creationId xmlns:p14="http://schemas.microsoft.com/office/powerpoint/2010/main" val="259294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-0">
            <a:extLst xmlns:a="http://schemas.openxmlformats.org/drawingml/2006/main">
              <a:ext uri="{FF2B5EF4-FFF2-40B4-BE49-F238E27FC236}">
                <a16:creationId xmlns:a16="http://schemas.microsoft.com/office/drawing/2014/main" id="{2BD3E7B4-954A-4345-9E0A-5827BF2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7C5F346A-B02C-4EFE-9334-E4FD275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A reproducible view of served demand</a:t>
            </a:r>
          </a:p>
        </p:txBody>
      </p:sp>
      <p:sp>
        <p:nvSpPr>
          <p:cNvPr id="3" name="text-3-2">
            <a:extLst xmlns:a="http://schemas.openxmlformats.org/drawingml/2006/main">
              <a:ext uri="{FF2B5EF4-FFF2-40B4-BE49-F238E27FC236}">
                <a16:creationId xmlns:a16="http://schemas.microsoft.com/office/drawing/2014/main" id="{25128D1E-4CFC-491E-AEB4-9A8365EF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4" name="text-3-3">
            <a:extLst xmlns:a="http://schemas.openxmlformats.org/drawingml/2006/main">
              <a:ext uri="{FF2B5EF4-FFF2-40B4-BE49-F238E27FC236}">
                <a16:creationId xmlns:a16="http://schemas.microsoft.com/office/drawing/2014/main" id="{3C06D098-E3F0-4285-BD3A-4BE1DA4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3-4">
            <a:extLst xmlns:a="http://schemas.openxmlformats.org/drawingml/2006/main">
              <a:ext uri="{FF2B5EF4-FFF2-40B4-BE49-F238E27FC236}">
                <a16:creationId xmlns:a16="http://schemas.microsoft.com/office/drawing/2014/main" id="{ACE2730E-0489-4217-B550-7FA7B2F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59.41M</a:t>
            </a:r>
          </a:p>
        </p:txBody>
      </p:sp>
      <p:sp>
        <p:nvSpPr>
          <p:cNvPr id="6" name="text-3-5">
            <a:extLst xmlns:a="http://schemas.openxmlformats.org/drawingml/2006/main">
              <a:ext uri="{FF2B5EF4-FFF2-40B4-BE49-F238E27FC236}">
                <a16:creationId xmlns:a16="http://schemas.microsoft.com/office/drawing/2014/main" id="{336F9270-D53B-4171-9027-963D1E8F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76425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retained completed trips</a:t>
            </a:r>
          </a:p>
          <a:p xmlns:a="http://schemas.openxmlformats.org/drawingml/2006/main">
            <a:pPr>
              <a:defRPr sz="202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Jan 2024 · Jan &amp; Feb 2025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02954-EBD7-4473-BEDB-CBCAC1BEED0E}"/>
              </a:ext>
            </a:extLst>
          </p:cNvPr>
          <p:cNvGraphicFramePr/>
          <p:nvPr/>
        </p:nvGraphicFramePr>
        <p:xfrm>
          <a:off xmlns:a="http://schemas.openxmlformats.org/drawingml/2006/main" x="533400" y="2781300"/>
          <a:ext xmlns:a="http://schemas.openxmlformats.org/drawingml/2006/main" cx="11125200" cy="28479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8315325"/>
              </a:tblGrid>
              <a:tr h="4953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delivered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and control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</a:tr>
              <a:tr h="588169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Source integrity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Immutable raw files, source URLs and SHA-256 checksums.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88169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Segment logic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Uber / Lyft × zone / outside; 38 zones at the 95% threshold.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88169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Metric quality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Keep trip volume; use separate valid samples for fare and wait.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88169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Reproducibility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DuckDB; 360 daily rows; 2,160 hourly rows; independent notebook.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8" name="text-3-6">
            <a:extLst xmlns:a="http://schemas.openxmlformats.org/drawingml/2006/main">
              <a:ext uri="{FF2B5EF4-FFF2-40B4-BE49-F238E27FC236}">
                <a16:creationId xmlns:a16="http://schemas.microsoft.com/office/drawing/2014/main" id="{7A7BD29C-4CEE-4CC9-8C5A-E9730A0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Separate rain study: 58.43M summer trips. Standalone Jupyter execution verified; actual Google Colab runtime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2029073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-0">
            <a:extLst xmlns:a="http://schemas.openxmlformats.org/drawingml/2006/main">
              <a:ext uri="{FF2B5EF4-FFF2-40B4-BE49-F238E27FC236}">
                <a16:creationId xmlns:a16="http://schemas.microsoft.com/office/drawing/2014/main" id="{9B70DE3E-3082-409A-9F1E-5F71191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DEMAND MONITORING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E85339EE-D177-4B29-87E4-876B20B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Daily monitoring separates alerts from explanations</a:t>
            </a:r>
          </a:p>
        </p:txBody>
      </p:sp>
      <p:sp>
        <p:nvSpPr>
          <p:cNvPr id="3" name="text-4-2">
            <a:extLst xmlns:a="http://schemas.openxmlformats.org/drawingml/2006/main">
              <a:ext uri="{FF2B5EF4-FFF2-40B4-BE49-F238E27FC236}">
                <a16:creationId xmlns:a16="http://schemas.microsoft.com/office/drawing/2014/main" id="{9678C7A8-9BD4-47E2-A3D7-8CFFE711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Daily completed trips by operator and endpoint-zone segment · 6–26 Jan 2025</a:t>
            </a:r>
          </a:p>
        </p:txBody>
      </p:sp>
      <p:sp>
        <p:nvSpPr>
          <p:cNvPr id="4" name="text-4-3">
            <a:extLst xmlns:a="http://schemas.openxmlformats.org/drawingml/2006/main">
              <a:ext uri="{FF2B5EF4-FFF2-40B4-BE49-F238E27FC236}">
                <a16:creationId xmlns:a16="http://schemas.microsoft.com/office/drawing/2014/main" id="{C3A2182D-CC62-4C74-82FD-9A40552D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4-4">
            <a:extLst xmlns:a="http://schemas.openxmlformats.org/drawingml/2006/main">
              <a:ext uri="{FF2B5EF4-FFF2-40B4-BE49-F238E27FC236}">
                <a16:creationId xmlns:a16="http://schemas.microsoft.com/office/drawing/2014/main" id="{95ACFDAF-5DAC-4F18-8449-5B0E011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9BE6CD7-EA29-4E82-B320-F25D450EF758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987f68e3b54360"/>
          </a:graphicData>
        </a:graphic>
      </p:graphicFrame>
      <p:sp>
        <p:nvSpPr>
          <p:cNvPr id="7" name="text-4-5">
            <a:extLst xmlns:a="http://schemas.openxmlformats.org/drawingml/2006/main">
              <a:ext uri="{FF2B5EF4-FFF2-40B4-BE49-F238E27FC236}">
                <a16:creationId xmlns:a16="http://schemas.microsoft.com/office/drawing/2014/main" id="{1ECCC508-3AE4-4A56-894E-7943A76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8" name="text-4-6">
            <a:extLst xmlns:a="http://schemas.openxmlformats.org/drawingml/2006/main">
              <a:ext uri="{FF2B5EF4-FFF2-40B4-BE49-F238E27FC236}">
                <a16:creationId xmlns:a16="http://schemas.microsoft.com/office/drawing/2014/main" id="{986DAAFD-76E7-467E-86B3-D4245A1C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alert rows across 58 days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in the full monitoring scope</a:t>
            </a:r>
          </a:p>
        </p:txBody>
      </p:sp>
      <p:sp>
        <p:nvSpPr>
          <p:cNvPr id="9" name="text-4-7">
            <a:extLst xmlns:a="http://schemas.openxmlformats.org/drawingml/2006/main">
              <a:ext uri="{FF2B5EF4-FFF2-40B4-BE49-F238E27FC236}">
                <a16:creationId xmlns:a16="http://schemas.microsoft.com/office/drawing/2014/main" id="{7FF1CB4B-096A-4C71-8D97-EBD0976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7670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Jan 21 · Lyft zone</a:t>
            </a:r>
          </a:p>
        </p:txBody>
      </p:sp>
      <p:sp>
        <p:nvSpPr>
          <p:cNvPr id="10" name="text-4-8">
            <a:extLst xmlns:a="http://schemas.openxmlformats.org/drawingml/2006/main">
              <a:ext uri="{FF2B5EF4-FFF2-40B4-BE49-F238E27FC236}">
                <a16:creationId xmlns:a16="http://schemas.microsoft.com/office/drawing/2014/main" id="{A3B18AFB-CF43-4F3B-8CFA-D8E2CCBD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2575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58,431 trips retained.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10.3% excluded from fare metrics.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Root cause remains unproven.</a:t>
            </a:r>
          </a:p>
        </p:txBody>
      </p:sp>
      <p:sp>
        <p:nvSpPr>
          <p:cNvPr id="11" name="text-4-9">
            <a:extLst xmlns:a="http://schemas.openxmlformats.org/drawingml/2006/main">
              <a:ext uri="{FF2B5EF4-FFF2-40B4-BE49-F238E27FC236}">
                <a16:creationId xmlns:a16="http://schemas.microsoft.com/office/drawing/2014/main" id="{5F4D7C0B-AFEF-4608-9421-3824C35F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Watchlist covers the 90-day main scope; the chart is a 21-day excerpt. 56 rows lack a usable baseline; two cases were reviewed.</a:t>
            </a:r>
          </a:p>
        </p:txBody>
      </p:sp>
    </p:spTree>
    <p:extLst>
      <p:ext uri="{BB962C8B-B14F-4D97-AF65-F5344CB8AC3E}">
        <p14:creationId xmlns:p14="http://schemas.microsoft.com/office/powerpoint/2010/main" val="1800704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-0">
            <a:extLst xmlns:a="http://schemas.openxmlformats.org/drawingml/2006/main">
              <a:ext uri="{FF2B5EF4-FFF2-40B4-BE49-F238E27FC236}">
                <a16:creationId xmlns:a16="http://schemas.microsoft.com/office/drawing/2014/main" id="{C7DAEBE5-CD52-432F-A4E2-BB880B8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PRICING SIGNAL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439E042F-A605-4836-AC99-5E35B689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Zone response differed sharply by operator</a:t>
            </a:r>
          </a:p>
        </p:txBody>
      </p:sp>
      <p:sp>
        <p:nvSpPr>
          <p:cNvPr id="3" name="text-5-2">
            <a:extLst xmlns:a="http://schemas.openxmlformats.org/drawingml/2006/main">
              <a:ext uri="{FF2B5EF4-FFF2-40B4-BE49-F238E27FC236}">
                <a16:creationId xmlns:a16="http://schemas.microsoft.com/office/drawing/2014/main" id="{AB5F5541-56BD-4F3C-9F76-E0E8879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Relative zone growth gap, normalized to outside-zone growth · matched weekday windows</a:t>
            </a:r>
          </a:p>
        </p:txBody>
      </p:sp>
      <p:sp>
        <p:nvSpPr>
          <p:cNvPr id="4" name="text-5-3">
            <a:extLst xmlns:a="http://schemas.openxmlformats.org/drawingml/2006/main">
              <a:ext uri="{FF2B5EF4-FFF2-40B4-BE49-F238E27FC236}">
                <a16:creationId xmlns:a16="http://schemas.microsoft.com/office/drawing/2014/main" id="{B6A32279-754B-45CF-B44B-93692F00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5-4">
            <a:extLst xmlns:a="http://schemas.openxmlformats.org/drawingml/2006/main">
              <a:ext uri="{FF2B5EF4-FFF2-40B4-BE49-F238E27FC236}">
                <a16:creationId xmlns:a16="http://schemas.microsoft.com/office/drawing/2014/main" id="{8EA38C39-EEBF-4157-8560-EA189155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D1DD645-454F-4FD4-A565-59CB1F26EF2C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8db89fbc9445e2"/>
          </a:graphicData>
        </a:graphic>
      </p:graphicFrame>
      <p:sp>
        <p:nvSpPr>
          <p:cNvPr id="7" name="text-5-5">
            <a:extLst xmlns:a="http://schemas.openxmlformats.org/drawingml/2006/main">
              <a:ext uri="{FF2B5EF4-FFF2-40B4-BE49-F238E27FC236}">
                <a16:creationId xmlns:a16="http://schemas.microsoft.com/office/drawing/2014/main" id="{AB35E790-4390-430A-B49C-708A4F8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+1.97%</a:t>
            </a:r>
          </a:p>
        </p:txBody>
      </p:sp>
      <p:sp>
        <p:nvSpPr>
          <p:cNvPr id="8" name="text-5-6">
            <a:extLst xmlns:a="http://schemas.openxmlformats.org/drawingml/2006/main">
              <a:ext uri="{FF2B5EF4-FFF2-40B4-BE49-F238E27FC236}">
                <a16:creationId xmlns:a16="http://schemas.microsoft.com/office/drawing/2014/main" id="{1584A1B7-5A90-494B-9296-F9FD713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total market volume growth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in the same comparison</a:t>
            </a:r>
          </a:p>
        </p:txBody>
      </p:sp>
      <p:sp>
        <p:nvSpPr>
          <p:cNvPr id="9" name="text-5-7">
            <a:extLst xmlns:a="http://schemas.openxmlformats.org/drawingml/2006/main">
              <a:ext uri="{FF2B5EF4-FFF2-40B4-BE49-F238E27FC236}">
                <a16:creationId xmlns:a16="http://schemas.microsoft.com/office/drawing/2014/main" id="{39F4B177-E9A0-45A3-AC38-731A42BC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0052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The segment mix matters.</a:t>
            </a:r>
          </a:p>
        </p:txBody>
      </p:sp>
      <p:sp>
        <p:nvSpPr>
          <p:cNvPr id="10" name="text-5-8">
            <a:extLst xmlns:a="http://schemas.openxmlformats.org/drawingml/2006/main">
              <a:ext uri="{FF2B5EF4-FFF2-40B4-BE49-F238E27FC236}">
                <a16:creationId xmlns:a16="http://schemas.microsoft.com/office/drawing/2014/main" id="{10F67352-75A4-44B2-817C-8234E20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Review short and low-fare trips; keep operator responses separate.</a:t>
            </a:r>
          </a:p>
        </p:txBody>
      </p:sp>
      <p:sp>
        <p:nvSpPr>
          <p:cNvPr id="11" name="text-5-9">
            <a:extLst xmlns:a="http://schemas.openxmlformats.org/drawingml/2006/main">
              <a:ext uri="{FF2B5EF4-FFF2-40B4-BE49-F238E27FC236}">
                <a16:creationId xmlns:a16="http://schemas.microsoft.com/office/drawing/2014/main" id="{CE3EFD49-DA3D-403B-A6CB-DC94E79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Jan 8–28, 2024 vs Jan 6–26, 2025. Direction survives zone-threshold and rain-window checks; causality is not identified.</a:t>
            </a:r>
          </a:p>
        </p:txBody>
      </p:sp>
    </p:spTree>
    <p:extLst>
      <p:ext uri="{BB962C8B-B14F-4D97-AF65-F5344CB8AC3E}">
        <p14:creationId xmlns:p14="http://schemas.microsoft.com/office/powerpoint/2010/main" val="393027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-0">
            <a:extLst xmlns:a="http://schemas.openxmlformats.org/drawingml/2006/main">
              <a:ext uri="{FF2B5EF4-FFF2-40B4-BE49-F238E27FC236}">
                <a16:creationId xmlns:a16="http://schemas.microsoft.com/office/drawing/2014/main" id="{8E01DFB7-9102-4DFC-9080-EC944E7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CREDIT SIGNAL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9CDA576F-C867-4846-BEA4-C98A513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Lyft share changed; incremental demand is uncertain</a:t>
            </a:r>
          </a:p>
        </p:txBody>
      </p:sp>
      <p:sp>
        <p:nvSpPr>
          <p:cNvPr id="3" name="text-6-2">
            <a:extLst xmlns:a="http://schemas.openxmlformats.org/drawingml/2006/main">
              <a:ext uri="{FF2B5EF4-FFF2-40B4-BE49-F238E27FC236}">
                <a16:creationId xmlns:a16="http://schemas.microsoft.com/office/drawing/2014/main" id="{5750FA0B-CD51-451B-8FDF-F3F0C4F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Weekly Lyft share of Uber + Lyft completed trips · complete observed weeks only</a:t>
            </a:r>
          </a:p>
        </p:txBody>
      </p:sp>
      <p:sp>
        <p:nvSpPr>
          <p:cNvPr id="4" name="text-6-3">
            <a:extLst xmlns:a="http://schemas.openxmlformats.org/drawingml/2006/main">
              <a:ext uri="{FF2B5EF4-FFF2-40B4-BE49-F238E27FC236}">
                <a16:creationId xmlns:a16="http://schemas.microsoft.com/office/drawing/2014/main" id="{036C981A-42A8-45AD-9977-87CBB5ED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6-4">
            <a:extLst xmlns:a="http://schemas.openxmlformats.org/drawingml/2006/main">
              <a:ext uri="{FF2B5EF4-FFF2-40B4-BE49-F238E27FC236}">
                <a16:creationId xmlns:a16="http://schemas.microsoft.com/office/drawing/2014/main" id="{9AE9739E-F5BC-496A-A34F-9F89567E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E729FDA-6869-4E23-8DE9-0223926AD634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d9f1a2362644bb"/>
          </a:graphicData>
        </a:graphic>
      </p:graphicFrame>
      <p:sp>
        <p:nvSpPr>
          <p:cNvPr id="7" name="text-6-5">
            <a:extLst xmlns:a="http://schemas.openxmlformats.org/drawingml/2006/main">
              <a:ext uri="{FF2B5EF4-FFF2-40B4-BE49-F238E27FC236}">
                <a16:creationId xmlns:a16="http://schemas.microsoft.com/office/drawing/2014/main" id="{B48C4140-0CBA-4A10-8AC7-19B2B00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+1.61 pp</a:t>
            </a:r>
          </a:p>
        </p:txBody>
      </p:sp>
      <p:sp>
        <p:nvSpPr>
          <p:cNvPr id="8" name="text-6-6">
            <a:extLst xmlns:a="http://schemas.openxmlformats.org/drawingml/2006/main">
              <a:ext uri="{FF2B5EF4-FFF2-40B4-BE49-F238E27FC236}">
                <a16:creationId xmlns:a16="http://schemas.microsoft.com/office/drawing/2014/main" id="{795C831D-F1CF-4729-920C-19BA2751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observed share difference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between zone and outside</a:t>
            </a:r>
          </a:p>
        </p:txBody>
      </p:sp>
      <p:sp>
        <p:nvSpPr>
          <p:cNvPr id="9" name="text-6-7">
            <a:extLst xmlns:a="http://schemas.openxmlformats.org/drawingml/2006/main">
              <a:ext uri="{FF2B5EF4-FFF2-40B4-BE49-F238E27FC236}">
                <a16:creationId xmlns:a16="http://schemas.microsoft.com/office/drawing/2014/main" id="{26BA6681-7DE0-4405-B381-C08226C3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814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6.15% uplift proxy</a:t>
            </a:r>
          </a:p>
        </p:txBody>
      </p:sp>
      <p:sp>
        <p:nvSpPr>
          <p:cNvPr id="10" name="text-6-8">
            <a:extLst xmlns:a="http://schemas.openxmlformats.org/drawingml/2006/main">
              <a:ext uri="{FF2B5EF4-FFF2-40B4-BE49-F238E27FC236}">
                <a16:creationId xmlns:a16="http://schemas.microsoft.com/office/drawing/2014/main" id="{7D8A09BE-B659-4EE7-A462-3A8EFACE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14875"/>
            <a:ext cx="3228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Requires a fixed market and an unaffected comparison group.</a:t>
            </a:r>
          </a:p>
        </p:txBody>
      </p:sp>
      <p:sp>
        <p:nvSpPr>
          <p:cNvPr id="11" name="text-6-9">
            <a:extLst xmlns:a="http://schemas.openxmlformats.org/drawingml/2006/main">
              <a:ext uri="{FF2B5EF4-FFF2-40B4-BE49-F238E27FC236}">
                <a16:creationId xmlns:a16="http://schemas.microsoft.com/office/drawing/2014/main" id="{BB953938-1933-425C-9E87-2A615FB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Credit: $1.50 for future use, issued Jan 5–31 with a one-week validity. Comparison: Jan 6–26 vs Feb 3–23; carryover can affect controls.</a:t>
            </a:r>
          </a:p>
        </p:txBody>
      </p:sp>
    </p:spTree>
    <p:extLst>
      <p:ext uri="{BB962C8B-B14F-4D97-AF65-F5344CB8AC3E}">
        <p14:creationId xmlns:p14="http://schemas.microsoft.com/office/powerpoint/2010/main" val="711709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-0">
            <a:extLst xmlns:a="http://schemas.openxmlformats.org/drawingml/2006/main">
              <a:ext uri="{FF2B5EF4-FFF2-40B4-BE49-F238E27FC236}">
                <a16:creationId xmlns:a16="http://schemas.microsoft.com/office/drawing/2014/main" id="{3057AB28-96A4-4858-9949-C5B07AA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CREDIT ECONOMICS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C7249812-9C10-48CF-B948-63B48898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Blanket credit is costly under the stated assumptions</a:t>
            </a:r>
          </a:p>
        </p:txBody>
      </p:sp>
      <p:sp>
        <p:nvSpPr>
          <p:cNvPr id="3" name="text-7-2">
            <a:extLst xmlns:a="http://schemas.openxmlformats.org/drawingml/2006/main">
              <a:ext uri="{FF2B5EF4-FFF2-40B4-BE49-F238E27FC236}">
                <a16:creationId xmlns:a16="http://schemas.microsoft.com/office/drawing/2014/main" id="{2FCBF6B3-3086-419F-B26A-46E2C4B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Net incremental contribution per 100 baseline trips · scenario model, USD</a:t>
            </a:r>
          </a:p>
        </p:txBody>
      </p:sp>
      <p:sp>
        <p:nvSpPr>
          <p:cNvPr id="4" name="text-7-3">
            <a:extLst xmlns:a="http://schemas.openxmlformats.org/drawingml/2006/main">
              <a:ext uri="{FF2B5EF4-FFF2-40B4-BE49-F238E27FC236}">
                <a16:creationId xmlns:a16="http://schemas.microsoft.com/office/drawing/2014/main" id="{70359B88-BF02-4D33-8FEE-D108BE6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7-4">
            <a:extLst xmlns:a="http://schemas.openxmlformats.org/drawingml/2006/main">
              <a:ext uri="{FF2B5EF4-FFF2-40B4-BE49-F238E27FC236}">
                <a16:creationId xmlns:a16="http://schemas.microsoft.com/office/drawing/2014/main" id="{91E39313-69E1-49F8-B19B-CC0E498C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AFA79B9-422A-43DC-9716-897AC997D313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d3f2f36bcf459c"/>
          </a:graphicData>
        </a:graphic>
      </p:graphicFrame>
      <p:sp>
        <p:nvSpPr>
          <p:cNvPr id="7" name="text-7-5">
            <a:extLst xmlns:a="http://schemas.openxmlformats.org/drawingml/2006/main">
              <a:ext uri="{FF2B5EF4-FFF2-40B4-BE49-F238E27FC236}">
                <a16:creationId xmlns:a16="http://schemas.microsoft.com/office/drawing/2014/main" id="{117E7B8E-0FB6-471E-AD06-3FEC0CC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$25.88</a:t>
            </a:r>
          </a:p>
        </p:txBody>
      </p:sp>
      <p:sp>
        <p:nvSpPr>
          <p:cNvPr id="8" name="text-7-6">
            <a:extLst xmlns:a="http://schemas.openxmlformats.org/drawingml/2006/main">
              <a:ext uri="{FF2B5EF4-FFF2-40B4-BE49-F238E27FC236}">
                <a16:creationId xmlns:a16="http://schemas.microsoft.com/office/drawing/2014/main" id="{5F1C0163-98A8-4761-B6CE-C86A2D9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scenario cost per extra trip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at the 6.15% uplift proxy</a:t>
            </a:r>
          </a:p>
        </p:txBody>
      </p:sp>
      <p:sp>
        <p:nvSpPr>
          <p:cNvPr id="9" name="text-7-7">
            <a:extLst xmlns:a="http://schemas.openxmlformats.org/drawingml/2006/main">
              <a:ext uri="{FF2B5EF4-FFF2-40B4-BE49-F238E27FC236}">
                <a16:creationId xmlns:a16="http://schemas.microsoft.com/office/drawing/2014/main" id="{03C224F1-389C-49B6-9F07-FCA5604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62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Break-even uplift</a:t>
            </a:r>
          </a:p>
        </p:txBody>
      </p:sp>
      <p:sp>
        <p:nvSpPr>
          <p:cNvPr id="10" name="text-7-8">
            <a:extLst xmlns:a="http://schemas.openxmlformats.org/drawingml/2006/main">
              <a:ext uri="{FF2B5EF4-FFF2-40B4-BE49-F238E27FC236}">
                <a16:creationId xmlns:a16="http://schemas.microsoft.com/office/drawing/2014/main" id="{5BDCA89D-2BF5-4C8D-A98F-B354326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577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33.33% · blanket coverage</a:t>
            </a:r>
          </a:p>
          <a:p xmlns:a="http://schemas.openxmlformats.org/drawingml/2006/main">
            <a:pPr>
              <a:defRPr sz="1875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10.00% · 30% coverage</a:t>
            </a:r>
          </a:p>
        </p:txBody>
      </p:sp>
      <p:sp>
        <p:nvSpPr>
          <p:cNvPr id="11" name="text-7-9">
            <a:extLst xmlns:a="http://schemas.openxmlformats.org/drawingml/2006/main">
              <a:ext uri="{FF2B5EF4-FFF2-40B4-BE49-F238E27FC236}">
                <a16:creationId xmlns:a16="http://schemas.microsoft.com/office/drawing/2014/main" id="{70D0A005-CF88-47C3-864F-B101D393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Assume $1.50 credit, $6 contribution, full redemption and credit on every extra trip. Targeted uplift must be re-estimated.</a:t>
            </a:r>
          </a:p>
        </p:txBody>
      </p:sp>
    </p:spTree>
    <p:extLst>
      <p:ext uri="{BB962C8B-B14F-4D97-AF65-F5344CB8AC3E}">
        <p14:creationId xmlns:p14="http://schemas.microsoft.com/office/powerpoint/2010/main" val="292869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-0">
            <a:extLst xmlns:a="http://schemas.openxmlformats.org/drawingml/2006/main">
              <a:ext uri="{FF2B5EF4-FFF2-40B4-BE49-F238E27FC236}">
                <a16:creationId xmlns:a16="http://schemas.microsoft.com/office/drawing/2014/main" id="{DC353AFD-6A25-48E8-9385-3DF68014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WEATHER PLANNING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88729CAA-1ADF-470F-9D56-37CAB99D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Use rain factors as monitoring triggers</a:t>
            </a:r>
          </a:p>
        </p:txBody>
      </p:sp>
      <p:sp>
        <p:nvSpPr>
          <p:cNvPr id="3" name="text-8-2">
            <a:extLst xmlns:a="http://schemas.openxmlformats.org/drawingml/2006/main">
              <a:ext uri="{FF2B5EF4-FFF2-40B4-BE49-F238E27FC236}">
                <a16:creationId xmlns:a16="http://schemas.microsoft.com/office/drawing/2014/main" id="{C216AEA3-4D41-43F5-8230-43B6874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Observed deviation from matched dry hours · June–August 2024</a:t>
            </a:r>
          </a:p>
        </p:txBody>
      </p:sp>
      <p:sp>
        <p:nvSpPr>
          <p:cNvPr id="4" name="text-8-3">
            <a:extLst xmlns:a="http://schemas.openxmlformats.org/drawingml/2006/main">
              <a:ext uri="{FF2B5EF4-FFF2-40B4-BE49-F238E27FC236}">
                <a16:creationId xmlns:a16="http://schemas.microsoft.com/office/drawing/2014/main" id="{BB01E7C6-C41C-4317-A494-706F4ED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8-4">
            <a:extLst xmlns:a="http://schemas.openxmlformats.org/drawingml/2006/main">
              <a:ext uri="{FF2B5EF4-FFF2-40B4-BE49-F238E27FC236}">
                <a16:creationId xmlns:a16="http://schemas.microsoft.com/office/drawing/2014/main" id="{CA0B3310-5D21-4BBA-BB52-8E087B3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EA203EC-E7DE-48E5-AEF2-B28457ADFC3E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8d0338cb4e4ec8"/>
          </a:graphicData>
        </a:graphic>
      </p:graphicFrame>
      <p:sp>
        <p:nvSpPr>
          <p:cNvPr id="7" name="text-8-5">
            <a:extLst xmlns:a="http://schemas.openxmlformats.org/drawingml/2006/main">
              <a:ext uri="{FF2B5EF4-FFF2-40B4-BE49-F238E27FC236}">
                <a16:creationId xmlns:a16="http://schemas.microsoft.com/office/drawing/2014/main" id="{6331120D-DA81-4FDC-9324-83898CF7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35 hours</a:t>
            </a:r>
          </a:p>
        </p:txBody>
      </p:sp>
      <p:sp>
        <p:nvSpPr>
          <p:cNvPr id="8" name="text-8-6">
            <a:extLst xmlns:a="http://schemas.openxmlformats.org/drawingml/2006/main">
              <a:ext uri="{FF2B5EF4-FFF2-40B4-BE49-F238E27FC236}">
                <a16:creationId xmlns:a16="http://schemas.microsoft.com/office/drawing/2014/main" id="{177F4B6D-878A-4675-BC27-06FDDBA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usable moderate/heavy rain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across 14 wet events</a:t>
            </a:r>
          </a:p>
        </p:txBody>
      </p:sp>
      <p:sp>
        <p:nvSpPr>
          <p:cNvPr id="9" name="text-8-7">
            <a:extLst xmlns:a="http://schemas.openxmlformats.org/drawingml/2006/main">
              <a:ext uri="{FF2B5EF4-FFF2-40B4-BE49-F238E27FC236}">
                <a16:creationId xmlns:a16="http://schemas.microsoft.com/office/drawing/2014/main" id="{A6767570-52A6-49E9-BBDC-C531934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00525"/>
            <a:ext cx="3228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Use as a watch trigger.</a:t>
            </a:r>
          </a:p>
        </p:txBody>
      </p:sp>
      <p:sp>
        <p:nvSpPr>
          <p:cNvPr id="10" name="text-8-8">
            <a:extLst xmlns:a="http://schemas.openxmlformats.org/drawingml/2006/main">
              <a:ext uri="{FF2B5EF4-FFF2-40B4-BE49-F238E27FC236}">
                <a16:creationId xmlns:a16="http://schemas.microsoft.com/office/drawing/2014/main" id="{6ABEFFF1-56FC-48A1-ABB6-929AC8C7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3219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Season, event clustering and city-wide weather limit transfer to winter.</a:t>
            </a:r>
          </a:p>
        </p:txBody>
      </p:sp>
      <p:sp>
        <p:nvSpPr>
          <p:cNvPr id="11" name="text-8-9">
            <a:extLst xmlns:a="http://schemas.openxmlformats.org/drawingml/2006/main">
              <a:ext uri="{FF2B5EF4-FFF2-40B4-BE49-F238E27FC236}">
                <a16:creationId xmlns:a16="http://schemas.microsoft.com/office/drawing/2014/main" id="{E9360ADD-B97A-4937-944E-FF032F6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110 usable light-rain hours. No weather adjustment was applied to the holiday-week forecast; completed trips do not measure supply.</a:t>
            </a:r>
          </a:p>
        </p:txBody>
      </p:sp>
    </p:spTree>
    <p:extLst>
      <p:ext uri="{BB962C8B-B14F-4D97-AF65-F5344CB8AC3E}">
        <p14:creationId xmlns:p14="http://schemas.microsoft.com/office/powerpoint/2010/main" val="1537891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-0">
            <a:extLst xmlns:a="http://schemas.openxmlformats.org/drawingml/2006/main">
              <a:ext uri="{FF2B5EF4-FFF2-40B4-BE49-F238E27FC236}">
                <a16:creationId xmlns:a16="http://schemas.microsoft.com/office/drawing/2014/main" id="{BEE880B3-2355-4880-9A75-E6BEF61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HOLIDAY-WEEK PLAN</a:t>
            </a:r>
          </a:p>
        </p:txBody>
      </p:sp>
      <p:sp>
        <p:nvSpPr>
          <p:cNvPr id="2" name="text-9-1">
            <a:extLst xmlns:a="http://schemas.openxmlformats.org/drawingml/2006/main">
              <a:ext uri="{FF2B5EF4-FFF2-40B4-BE49-F238E27FC236}">
                <a16:creationId xmlns:a16="http://schemas.microsoft.com/office/drawing/2014/main" id="{A9F47DEE-CC30-401F-A6D2-129B14B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A holiday-week plan using pre-cutoff data</a:t>
            </a:r>
          </a:p>
        </p:txBody>
      </p:sp>
      <p:sp>
        <p:nvSpPr>
          <p:cNvPr id="3" name="text-9-2">
            <a:extLst xmlns:a="http://schemas.openxmlformats.org/drawingml/2006/main">
              <a:ext uri="{FF2B5EF4-FFF2-40B4-BE49-F238E27FC236}">
                <a16:creationId xmlns:a16="http://schemas.microsoft.com/office/drawing/2014/main" id="{798DC2DD-3FE8-415E-96DC-46E1B1A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Plan fixed at end of 16 Feb 2025, New York time · target 17–23 Feb</a:t>
            </a:r>
          </a:p>
        </p:txBody>
      </p:sp>
      <p:sp>
        <p:nvSpPr>
          <p:cNvPr id="4" name="text-9-3">
            <a:extLst xmlns:a="http://schemas.openxmlformats.org/drawingml/2006/main">
              <a:ext uri="{FF2B5EF4-FFF2-40B4-BE49-F238E27FC236}">
                <a16:creationId xmlns:a16="http://schemas.microsoft.com/office/drawing/2014/main" id="{2DBEBB02-E474-4A58-9CD3-9034345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9-4">
            <a:extLst xmlns:a="http://schemas.openxmlformats.org/drawingml/2006/main">
              <a:ext uri="{FF2B5EF4-FFF2-40B4-BE49-F238E27FC236}">
                <a16:creationId xmlns:a16="http://schemas.microsoft.com/office/drawing/2014/main" id="{8AB56031-1D77-431A-8B76-D74654D7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47D1129-221A-48EE-9A8E-68725C79F70C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5793ee91804b8a"/>
          </a:graphicData>
        </a:graphic>
      </p:graphicFrame>
      <p:sp>
        <p:nvSpPr>
          <p:cNvPr id="7" name="text-9-5">
            <a:extLst xmlns:a="http://schemas.openxmlformats.org/drawingml/2006/main">
              <a:ext uri="{FF2B5EF4-FFF2-40B4-BE49-F238E27FC236}">
                <a16:creationId xmlns:a16="http://schemas.microsoft.com/office/drawing/2014/main" id="{A1CF3281-249C-4DDB-A1B9-C8AF7BF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4.871M</a:t>
            </a:r>
          </a:p>
        </p:txBody>
      </p:sp>
      <p:sp>
        <p:nvSpPr>
          <p:cNvPr id="8" name="text-9-6">
            <a:extLst xmlns:a="http://schemas.openxmlformats.org/drawingml/2006/main">
              <a:ext uri="{FF2B5EF4-FFF2-40B4-BE49-F238E27FC236}">
                <a16:creationId xmlns:a16="http://schemas.microsoft.com/office/drawing/2014/main" id="{5A4E07CC-730E-422A-9DCD-5A6EEA23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planned completed trips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across four daily segments</a:t>
            </a:r>
          </a:p>
        </p:txBody>
      </p:sp>
      <p:sp>
        <p:nvSpPr>
          <p:cNvPr id="9" name="text-9-7">
            <a:extLst xmlns:a="http://schemas.openxmlformats.org/drawingml/2006/main">
              <a:ext uri="{FF2B5EF4-FFF2-40B4-BE49-F238E27FC236}">
                <a16:creationId xmlns:a16="http://schemas.microsoft.com/office/drawing/2014/main" id="{6AD2823A-4F53-4596-B048-F4522C7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209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Baseline: mean of D−7 and D−14.</a:t>
            </a:r>
          </a:p>
        </p:txBody>
      </p:sp>
      <p:sp>
        <p:nvSpPr>
          <p:cNvPr id="10" name="text-9-8">
            <a:extLst xmlns:a="http://schemas.openxmlformats.org/drawingml/2006/main">
              <a:ext uri="{FF2B5EF4-FFF2-40B4-BE49-F238E27FC236}">
                <a16:creationId xmlns:a16="http://schemas.microsoft.com/office/drawing/2014/main" id="{2D8B68D3-9B4D-404D-972E-41802262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53025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MLK transfer retained as a Feb 17 scenario.</a:t>
            </a:r>
          </a:p>
        </p:txBody>
      </p:sp>
      <p:sp>
        <p:nvSpPr>
          <p:cNvPr id="11" name="text-9-9">
            <a:extLst xmlns:a="http://schemas.openxmlformats.org/drawingml/2006/main">
              <a:ext uri="{FF2B5EF4-FFF2-40B4-BE49-F238E27FC236}">
                <a16:creationId xmlns:a16="http://schemas.microsoft.com/office/drawing/2014/main" id="{E0D7C92D-F3EE-4C5B-9BF8-485ECDC9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9,961 post-cutoff completions excluded. Retrospective simulation assumes records were available; TLC monthly publication is delayed.</a:t>
            </a:r>
          </a:p>
        </p:txBody>
      </p:sp>
    </p:spTree>
    <p:extLst>
      <p:ext uri="{BB962C8B-B14F-4D97-AF65-F5344CB8AC3E}">
        <p14:creationId xmlns:p14="http://schemas.microsoft.com/office/powerpoint/2010/main" val="19724775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0-0">
            <a:extLst xmlns:a="http://schemas.openxmlformats.org/drawingml/2006/main">
              <a:ext uri="{FF2B5EF4-FFF2-40B4-BE49-F238E27FC236}">
                <a16:creationId xmlns:a16="http://schemas.microsoft.com/office/drawing/2014/main" id="{927F83D6-4A79-4F3A-864D-A43B5974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RETROSPECTIVE EVALUATION</a:t>
            </a:r>
          </a:p>
        </p:txBody>
      </p:sp>
      <p:sp>
        <p:nvSpPr>
          <p:cNvPr id="2" name="text-10-1">
            <a:extLst xmlns:a="http://schemas.openxmlformats.org/drawingml/2006/main">
              <a:ext uri="{FF2B5EF4-FFF2-40B4-BE49-F238E27FC236}">
                <a16:creationId xmlns:a16="http://schemas.microsoft.com/office/drawing/2014/main" id="{8FDFBDA3-8B9D-4098-986A-6D4A4817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The two-week mean performed best in this test week</a:t>
            </a:r>
          </a:p>
        </p:txBody>
      </p:sp>
      <p:sp>
        <p:nvSpPr>
          <p:cNvPr id="3" name="text-10-2">
            <a:extLst xmlns:a="http://schemas.openxmlformats.org/drawingml/2006/main">
              <a:ext uri="{FF2B5EF4-FFF2-40B4-BE49-F238E27FC236}">
                <a16:creationId xmlns:a16="http://schemas.microsoft.com/office/drawing/2014/main" id="{2FD3D137-E58A-47FB-9EF0-E04E96E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Weighted absolute percentage error · 28 daily segment forecasts</a:t>
            </a:r>
          </a:p>
        </p:txBody>
      </p:sp>
      <p:sp>
        <p:nvSpPr>
          <p:cNvPr id="4" name="text-10-3">
            <a:extLst xmlns:a="http://schemas.openxmlformats.org/drawingml/2006/main">
              <a:ext uri="{FF2B5EF4-FFF2-40B4-BE49-F238E27FC236}">
                <a16:creationId xmlns:a16="http://schemas.microsoft.com/office/drawing/2014/main" id="{3E4F15E5-7129-4C86-A5A6-06453ED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10-4">
            <a:extLst xmlns:a="http://schemas.openxmlformats.org/drawingml/2006/main">
              <a:ext uri="{FF2B5EF4-FFF2-40B4-BE49-F238E27FC236}">
                <a16:creationId xmlns:a16="http://schemas.microsoft.com/office/drawing/2014/main" id="{F60F4720-ED69-4960-AF06-8FE5EAFE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9623CAC-E5BA-4E88-B84B-66BBE68E24C2}"/>
              </a:ext>
            </a:extLst>
          </p:cNvPr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7334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af19cd50544e32"/>
          </a:graphicData>
        </a:graphic>
      </p:graphicFrame>
      <p:sp>
        <p:nvSpPr>
          <p:cNvPr id="7" name="text-10-5">
            <a:extLst xmlns:a="http://schemas.openxmlformats.org/drawingml/2006/main">
              <a:ext uri="{FF2B5EF4-FFF2-40B4-BE49-F238E27FC236}">
                <a16:creationId xmlns:a16="http://schemas.microsoft.com/office/drawing/2014/main" id="{7CBFDF28-C014-466C-B2DD-F2F84E0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3.48%</a:t>
            </a:r>
          </a:p>
        </p:txBody>
      </p:sp>
      <p:sp>
        <p:nvSpPr>
          <p:cNvPr id="8" name="text-10-6">
            <a:extLst xmlns:a="http://schemas.openxmlformats.org/drawingml/2006/main">
              <a:ext uri="{FF2B5EF4-FFF2-40B4-BE49-F238E27FC236}">
                <a16:creationId xmlns:a16="http://schemas.microsoft.com/office/drawing/2014/main" id="{2C076685-F88A-4DB3-B907-872470F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WAPE for the two-week mean</a:t>
            </a:r>
          </a:p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with +1.06% signed bias</a:t>
            </a:r>
          </a:p>
        </p:txBody>
      </p:sp>
      <p:sp>
        <p:nvSpPr>
          <p:cNvPr id="9" name="text-10-7">
            <a:extLst xmlns:a="http://schemas.openxmlformats.org/drawingml/2006/main">
              <a:ext uri="{FF2B5EF4-FFF2-40B4-BE49-F238E27FC236}">
                <a16:creationId xmlns:a16="http://schemas.microsoft.com/office/drawing/2014/main" id="{7EAC5F4A-4830-4EF8-AC7C-18C44DC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8147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A provisional baseline.</a:t>
            </a:r>
          </a:p>
        </p:txBody>
      </p:sp>
      <p:sp>
        <p:nvSpPr>
          <p:cNvPr id="10" name="text-10-8">
            <a:extLst xmlns:a="http://schemas.openxmlformats.org/drawingml/2006/main">
              <a:ext uri="{FF2B5EF4-FFF2-40B4-BE49-F238E27FC236}">
                <a16:creationId xmlns:a16="http://schemas.microsoft.com/office/drawing/2014/main" id="{225CAEFA-E0F1-497A-AAB8-6C17477B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67275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F3B"/>
                </a:solidFill>
                <a:latin typeface="Arial"/>
                <a:ea typeface="Arial"/>
                <a:cs typeface="Arial"/>
              </a:rPr>
              <a:t>Validate across more weeks before adopting a general winner.</a:t>
            </a:r>
          </a:p>
        </p:txBody>
      </p:sp>
      <p:sp>
        <p:nvSpPr>
          <p:cNvPr id="11" name="text-10-9">
            <a:extLst xmlns:a="http://schemas.openxmlformats.org/drawingml/2006/main">
              <a:ext uri="{FF2B5EF4-FFF2-40B4-BE49-F238E27FC236}">
                <a16:creationId xmlns:a16="http://schemas.microsoft.com/office/drawing/2014/main" id="{A7F4A245-BAE5-4147-AB2B-18275B21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Actual week: 4.820M trips. WAPE sums absolute errors before aggregation; results were unavailable at the planning cutoff.</a:t>
            </a:r>
          </a:p>
        </p:txBody>
      </p:sp>
    </p:spTree>
    <p:extLst>
      <p:ext uri="{BB962C8B-B14F-4D97-AF65-F5344CB8AC3E}">
        <p14:creationId xmlns:p14="http://schemas.microsoft.com/office/powerpoint/2010/main" val="1768831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1-0">
            <a:extLst xmlns:a="http://schemas.openxmlformats.org/drawingml/2006/main">
              <a:ext uri="{FF2B5EF4-FFF2-40B4-BE49-F238E27FC236}">
                <a16:creationId xmlns:a16="http://schemas.microsoft.com/office/drawing/2014/main" id="{9B7DCCE2-24AA-4E0B-B8D1-D8C9C92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PROPOSED NEXT DECISION</a:t>
            </a:r>
          </a:p>
        </p:txBody>
      </p:sp>
      <p:sp>
        <p:nvSpPr>
          <p:cNvPr id="2" name="text-11-1">
            <a:extLst xmlns:a="http://schemas.openxmlformats.org/drawingml/2006/main">
              <a:ext uri="{FF2B5EF4-FFF2-40B4-BE49-F238E27FC236}">
                <a16:creationId xmlns:a16="http://schemas.microsoft.com/office/drawing/2014/main" id="{160D5F6C-18AD-4968-93C6-D14BC372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Test targeted credit on incremental contribution</a:t>
            </a:r>
          </a:p>
        </p:txBody>
      </p:sp>
      <p:sp>
        <p:nvSpPr>
          <p:cNvPr id="3" name="text-11-2">
            <a:extLst xmlns:a="http://schemas.openxmlformats.org/drawingml/2006/main">
              <a:ext uri="{FF2B5EF4-FFF2-40B4-BE49-F238E27FC236}">
                <a16:creationId xmlns:a16="http://schemas.microsoft.com/office/drawing/2014/main" id="{8653686F-74C9-4CAE-98B7-EDCB8223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Proposed experiment · requires internal user, assignment and redemption data</a:t>
            </a:r>
          </a:p>
        </p:txBody>
      </p:sp>
      <p:sp>
        <p:nvSpPr>
          <p:cNvPr id="4" name="text-11-3">
            <a:extLst xmlns:a="http://schemas.openxmlformats.org/drawingml/2006/main">
              <a:ext uri="{FF2B5EF4-FFF2-40B4-BE49-F238E27FC236}">
                <a16:creationId xmlns:a16="http://schemas.microsoft.com/office/drawing/2014/main" id="{1814BB70-F7A0-45AE-B797-8F3CD077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11-4">
            <a:extLst xmlns:a="http://schemas.openxmlformats.org/drawingml/2006/main">
              <a:ext uri="{FF2B5EF4-FFF2-40B4-BE49-F238E27FC236}">
                <a16:creationId xmlns:a16="http://schemas.microsoft.com/office/drawing/2014/main" id="{CEF396D2-6A4E-49FF-85EE-2114CF8F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441AB-CF0A-400B-925D-D4AECE14DC54}"/>
              </a:ext>
            </a:extLst>
          </p:cNvPr>
          <p:cNvGraphicFramePr/>
          <p:nvPr/>
        </p:nvGraphicFramePr>
        <p:xfrm>
          <a:off xmlns:a="http://schemas.openxmlformats.org/drawingml/2006/main" x="533400" y="2181225"/>
          <a:ext xmlns:a="http://schemas.openxmlformats.org/drawingml/2006/main" cx="111252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38450"/>
                <a:gridCol w="8286750"/>
              </a:tblGrid>
              <a:tr h="4953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element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Operational proposal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Eligibility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Freeze a 28-day pre-test cohort of short / low-fare zone users.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Assignment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Stable user randomization: 90% treatment, 10% holdout.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Primary outcome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Trips and net contribution per assigned user; retain zero-trip users.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Guardrails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Wait time, cancellation rate and contribution per trip.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Duration and power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≥14 issuance days + 7-day follow-up; power from internal data.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5175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Scale if contribution CI is positive and guardrails hold.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7" name="text-11-5">
            <a:extLst xmlns:a="http://schemas.openxmlformats.org/drawingml/2006/main">
              <a:ext uri="{FF2B5EF4-FFF2-40B4-BE49-F238E27FC236}">
                <a16:creationId xmlns:a16="http://schemas.microsoft.com/office/drawing/2014/main" id="{EEC6C5D4-2228-4BFE-A564-DE37355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If contribution fails or guardrails worsen: stop or redesign. Public TLC data cannot execute this user-level experiment.</a:t>
            </a:r>
          </a:p>
        </p:txBody>
      </p:sp>
    </p:spTree>
    <p:extLst>
      <p:ext uri="{BB962C8B-B14F-4D97-AF65-F5344CB8AC3E}">
        <p14:creationId xmlns:p14="http://schemas.microsoft.com/office/powerpoint/2010/main" val="1043961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2-0">
            <a:extLst xmlns:a="http://schemas.openxmlformats.org/drawingml/2006/main">
              <a:ext uri="{FF2B5EF4-FFF2-40B4-BE49-F238E27FC236}">
                <a16:creationId xmlns:a16="http://schemas.microsoft.com/office/drawing/2014/main" id="{7F3D614C-9295-4F64-AC5D-AA1BFFA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625B"/>
                </a:solidFill>
                <a:latin typeface="Arial"/>
                <a:ea typeface="Arial"/>
                <a:cs typeface="Arial"/>
              </a:rPr>
              <a:t>PORTFOLIO HANDOFF</a:t>
            </a:r>
          </a:p>
        </p:txBody>
      </p:sp>
      <p:sp>
        <p:nvSpPr>
          <p:cNvPr id="2" name="text-12-1">
            <a:extLst xmlns:a="http://schemas.openxmlformats.org/drawingml/2006/main">
              <a:ext uri="{FF2B5EF4-FFF2-40B4-BE49-F238E27FC236}">
                <a16:creationId xmlns:a16="http://schemas.microsoft.com/office/drawing/2014/main" id="{18D8415B-E899-490F-959B-056F7218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F3B"/>
                </a:solidFill>
                <a:latin typeface="Arial"/>
                <a:ea typeface="Arial"/>
                <a:cs typeface="Arial"/>
              </a:rPr>
              <a:t>Evidence available for a demand-planning review</a:t>
            </a:r>
          </a:p>
        </p:txBody>
      </p:sp>
      <p:sp>
        <p:nvSpPr>
          <p:cNvPr id="3" name="text-12-2">
            <a:extLst xmlns:a="http://schemas.openxmlformats.org/drawingml/2006/main">
              <a:ext uri="{FF2B5EF4-FFF2-40B4-BE49-F238E27FC236}">
                <a16:creationId xmlns:a16="http://schemas.microsoft.com/office/drawing/2014/main" id="{4755403A-CDB4-4916-965D-5EE0C42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From source controls to commercial decisions and a repeatable planning workflow.</a:t>
            </a:r>
          </a:p>
        </p:txBody>
      </p:sp>
      <p:sp>
        <p:nvSpPr>
          <p:cNvPr id="4" name="text-12-3">
            <a:extLst xmlns:a="http://schemas.openxmlformats.org/drawingml/2006/main">
              <a:ext uri="{FF2B5EF4-FFF2-40B4-BE49-F238E27FC236}">
                <a16:creationId xmlns:a16="http://schemas.microsoft.com/office/drawing/2014/main" id="{47BDFBBF-F336-49D2-8767-04CD3BB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URBAN MOBILITY DEMAND PLANNING  ·  PUBLIC-DATA PORTFOLIO</a:t>
            </a:r>
          </a:p>
        </p:txBody>
      </p:sp>
      <p:sp>
        <p:nvSpPr>
          <p:cNvPr id="5" name="text-12-4">
            <a:extLst xmlns:a="http://schemas.openxmlformats.org/drawingml/2006/main">
              <a:ext uri="{FF2B5EF4-FFF2-40B4-BE49-F238E27FC236}">
                <a16:creationId xmlns:a16="http://schemas.microsoft.com/office/drawing/2014/main" id="{CF711F34-9E4E-4182-8A47-66A9F00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AB942-2F81-4ED6-877B-3931E9CFAB9A}"/>
              </a:ext>
            </a:extLst>
          </p:cNvPr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11125200" cy="2971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8172450"/>
              </a:tblGrid>
              <a:tr h="4953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Planning capability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Reviewable output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T w="5715">
                      <a:solidFill>
                        <a:srgbClr val="DDE4E1"/>
                      </a:solidFill>
                      <a:prstDash val="solid"/>
                    </a:lnT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142F3B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Monitor demand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Four daily segments, watchlist and two documented alert investigations.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Evaluate commercial signals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Fee sensitivity analysis, credit share comparison and a 24-scenario Excel model.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Plan and validate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28 frozen forecasts, an as-of memo and a retrospective backtest.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Communicate decisions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DE4E1"/>
                      </a:solidFill>
                      <a:prstDash val="solid"/>
                    </a:lnL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F3B"/>
                          </a:solidFill>
                          <a:latin typeface="Arial"/>
                          <a:ea typeface="Arial"/>
                          <a:cs typeface="Arial"/>
                        </a:rPr>
                        <a:t>Two report previews, an English planning memo and a proposed credit test.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DE4E1"/>
                      </a:solidFill>
                      <a:prstDash val="solid"/>
                    </a:lnR>
                    <a:lnB w="5715">
                      <a:solidFill>
                        <a:srgbClr val="DDE4E1"/>
                      </a:solidFill>
                      <a:prstDash val="solid"/>
                    </a:lnB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7" name="text-12-5">
            <a:extLst xmlns:a="http://schemas.openxmlformats.org/drawingml/2006/main">
              <a:ext uri="{FF2B5EF4-FFF2-40B4-BE49-F238E27FC236}">
                <a16:creationId xmlns:a16="http://schemas.microsoft.com/office/drawing/2014/main" id="{F6DD453F-6B7F-4DD6-9F1D-82A76FF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C62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625B"/>
                </a:solidFill>
                <a:latin typeface="Arial"/>
                <a:ea typeface="Arial"/>
                <a:cs typeface="Arial"/>
                <a:hlinkClick xmlns:r="http://schemas.openxmlformats.org/officeDocument/2006/relationships" r:id="Rffb50ba2a0d24c22"/>
              </a:rPr>
              <a:t>github.com/handonn2000/urban-mobility-planning</a:t>
            </a:r>
          </a:p>
        </p:txBody>
      </p:sp>
      <p:sp>
        <p:nvSpPr>
          <p:cNvPr id="8" name="text-12-6">
            <a:extLst xmlns:a="http://schemas.openxmlformats.org/drawingml/2006/main">
              <a:ext uri="{FF2B5EF4-FFF2-40B4-BE49-F238E27FC236}">
                <a16:creationId xmlns:a16="http://schemas.microsoft.com/office/drawing/2014/main" id="{501AD060-1A03-4EFB-940E-C9A762BE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0275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27B"/>
                </a:solidFill>
                <a:latin typeface="Arial"/>
                <a:ea typeface="Arial"/>
                <a:cs typeface="Arial"/>
              </a:rPr>
              <a:t>Power BI source draft: 27 measures and two pages. Native DAX, refresh, filters and PBIX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689412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2026-10-14T14:27:09.9990000Z</dcterms:created>
  <dcterms:modified xsi:type="dcterms:W3CDTF">2026-10-14T14:27:09.9990000Z</dcterms:modified>
</coreProperties>
</file>